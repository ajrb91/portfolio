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7" r:id="rId2"/>
    <p:sldId id="258" r:id="rId3"/>
    <p:sldId id="259" r:id="rId4"/>
    <p:sldId id="261" r:id="rId5"/>
    <p:sldId id="262" r:id="rId6"/>
    <p:sldId id="260"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107" d="100"/>
          <a:sy n="107" d="100"/>
        </p:scale>
        <p:origin x="6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6F43A0-6294-4EE5-B3EA-730FF7E3519F}" type="datetimeFigureOut">
              <a:rPr lang="en-US" smtClean="0"/>
              <a:t>11/17/2025</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05E371-F7E9-4730-9963-793EC3641F5B}" type="slidenum">
              <a:rPr lang="en-US" smtClean="0"/>
              <a:t>‹Nº›</a:t>
            </a:fld>
            <a:endParaRPr lang="en-US"/>
          </a:p>
        </p:txBody>
      </p:sp>
    </p:spTree>
    <p:extLst>
      <p:ext uri="{BB962C8B-B14F-4D97-AF65-F5344CB8AC3E}">
        <p14:creationId xmlns:p14="http://schemas.microsoft.com/office/powerpoint/2010/main" val="1065003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9205E371-F7E9-4730-9963-793EC3641F5B}" type="slidenum">
              <a:rPr lang="en-US" smtClean="0"/>
              <a:t>3</a:t>
            </a:fld>
            <a:endParaRPr lang="en-US"/>
          </a:p>
        </p:txBody>
      </p:sp>
    </p:spTree>
    <p:extLst>
      <p:ext uri="{BB962C8B-B14F-4D97-AF65-F5344CB8AC3E}">
        <p14:creationId xmlns:p14="http://schemas.microsoft.com/office/powerpoint/2010/main" val="11664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1" dirty="0"/>
              <a:t>Identified Challenges</a:t>
            </a:r>
          </a:p>
          <a:p>
            <a:r>
              <a:rPr lang="en-US" sz="1200" dirty="0"/>
              <a:t>📋 </a:t>
            </a:r>
            <a:r>
              <a:rPr lang="en-US" sz="1200" b="1" dirty="0"/>
              <a:t>Lack of standardization in data collection</a:t>
            </a:r>
            <a:br>
              <a:rPr lang="en-US" sz="1200" dirty="0"/>
            </a:br>
            <a:r>
              <a:rPr lang="en-US" sz="1200" dirty="0"/>
              <a:t>Makes it harder to interpret messages, reduces team efficiency, and limits their ability to act.</a:t>
            </a:r>
          </a:p>
          <a:p>
            <a:r>
              <a:rPr lang="en-US" sz="1200" dirty="0"/>
              <a:t>🛠️ </a:t>
            </a:r>
            <a:r>
              <a:rPr lang="en-US" sz="1200" b="1" dirty="0"/>
              <a:t>Manual and inefficient process</a:t>
            </a:r>
            <a:br>
              <a:rPr lang="en-US" sz="1200" dirty="0"/>
            </a:br>
            <a:r>
              <a:rPr lang="en-US" sz="1200" dirty="0"/>
              <a:t>Prone to errors, difficult to scale, and negatively impacts employee motivation.</a:t>
            </a:r>
          </a:p>
          <a:p>
            <a:r>
              <a:rPr lang="en-US" sz="1200" dirty="0"/>
              <a:t>❗ </a:t>
            </a:r>
            <a:r>
              <a:rPr lang="en-US" sz="1200" b="1" dirty="0"/>
              <a:t>Incomplete or inconsistent information</a:t>
            </a:r>
            <a:br>
              <a:rPr lang="en-US" sz="1200" dirty="0"/>
            </a:br>
            <a:r>
              <a:rPr lang="en-US" sz="1200" dirty="0"/>
              <a:t>Makes proper follow-up difficult and may lead to lost sales or missed opportunities to improve products and services.</a:t>
            </a:r>
          </a:p>
          <a:p>
            <a:r>
              <a:rPr lang="en-US" sz="1200" dirty="0"/>
              <a:t>📉 </a:t>
            </a:r>
            <a:r>
              <a:rPr lang="en-US" sz="1200" b="1" dirty="0"/>
              <a:t>Low process maturity</a:t>
            </a:r>
            <a:br>
              <a:rPr lang="en-US" sz="1200" dirty="0"/>
            </a:br>
            <a:r>
              <a:rPr lang="en-US" sz="1200" dirty="0"/>
              <a:t>Lack of standardization and automation causes delays in customer responses and in implementing improvements.</a:t>
            </a:r>
          </a:p>
          <a:p>
            <a:r>
              <a:rPr lang="en-US" sz="1200" dirty="0"/>
              <a:t>🔍 </a:t>
            </a:r>
            <a:r>
              <a:rPr lang="en-US" sz="1200" b="1" dirty="0"/>
              <a:t>No traceability or follow-up</a:t>
            </a:r>
            <a:br>
              <a:rPr lang="en-US" sz="1200" dirty="0"/>
            </a:br>
            <a:r>
              <a:rPr lang="en-US" sz="1200" dirty="0"/>
              <a:t>Prevents performance measurement, hinders continuous improvement, and limits visibility of business impact.</a:t>
            </a:r>
          </a:p>
          <a:p>
            <a:r>
              <a:rPr lang="en-US" sz="1200" dirty="0"/>
              <a:t>🚫 </a:t>
            </a:r>
            <a:r>
              <a:rPr lang="en-US" sz="1200" b="1" dirty="0"/>
              <a:t>Missing rules, priorities, and alerts</a:t>
            </a:r>
            <a:br>
              <a:rPr lang="en-US" sz="1200" dirty="0"/>
            </a:br>
            <a:r>
              <a:rPr lang="en-US" sz="1200" dirty="0"/>
              <a:t>Leads are classified inconsistently or not at all, with no automated mechanisms for follow-up based on urgency level.</a:t>
            </a:r>
          </a:p>
          <a:p>
            <a:endParaRPr lang="en-US" dirty="0"/>
          </a:p>
        </p:txBody>
      </p:sp>
      <p:sp>
        <p:nvSpPr>
          <p:cNvPr id="4" name="Marcador de número de diapositiva 3"/>
          <p:cNvSpPr>
            <a:spLocks noGrp="1"/>
          </p:cNvSpPr>
          <p:nvPr>
            <p:ph type="sldNum" sz="quarter" idx="5"/>
          </p:nvPr>
        </p:nvSpPr>
        <p:spPr/>
        <p:txBody>
          <a:bodyPr/>
          <a:lstStyle/>
          <a:p>
            <a:fld id="{9205E371-F7E9-4730-9963-793EC3641F5B}" type="slidenum">
              <a:rPr lang="en-US" smtClean="0"/>
              <a:t>5</a:t>
            </a:fld>
            <a:endParaRPr lang="en-US"/>
          </a:p>
        </p:txBody>
      </p:sp>
    </p:spTree>
    <p:extLst>
      <p:ext uri="{BB962C8B-B14F-4D97-AF65-F5344CB8AC3E}">
        <p14:creationId xmlns:p14="http://schemas.microsoft.com/office/powerpoint/2010/main" val="774055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 Lack of standardization in data collection</a:t>
            </a:r>
          </a:p>
          <a:p>
            <a:r>
              <a:rPr lang="en-US" dirty="0"/>
              <a:t>✅ Solution: Implement a standardized form using Google Forms for branch and call center employees. All required fields (customer, product, channel, comments) are clearly defined and validated.</a:t>
            </a:r>
          </a:p>
          <a:p>
            <a:endParaRPr lang="en-US" dirty="0"/>
          </a:p>
          <a:p>
            <a:r>
              <a:rPr lang="en-US" dirty="0"/>
              <a:t>❌ Manual and inefficient process</a:t>
            </a:r>
          </a:p>
          <a:p>
            <a:r>
              <a:rPr lang="en-US" dirty="0"/>
              <a:t>✅ Solution: Automate the workflow with Apps Script, Python, and data analysis tools to process information, analyze comments, and update spreadsheets without human intervention.</a:t>
            </a:r>
          </a:p>
          <a:p>
            <a:endParaRPr lang="en-US" dirty="0"/>
          </a:p>
          <a:p>
            <a:r>
              <a:rPr lang="en-US" dirty="0"/>
              <a:t>❌ Incomplete or inconsistent information</a:t>
            </a:r>
          </a:p>
          <a:p>
            <a:r>
              <a:rPr lang="en-US" dirty="0"/>
              <a:t>✅ Solution: The form enforces completion of key fields, avoiding missing data. Integration with Apps Script and data analysis models (Python) ensures minimum quality standards before processing.</a:t>
            </a:r>
          </a:p>
          <a:p>
            <a:endParaRPr lang="en-US" dirty="0"/>
          </a:p>
          <a:p>
            <a:r>
              <a:rPr lang="en-US" dirty="0"/>
              <a:t>❌ Low process maturity</a:t>
            </a:r>
          </a:p>
          <a:p>
            <a:r>
              <a:rPr lang="en-US" dirty="0"/>
              <a:t>✅ Solution: A fully digital, centralized, and traceable process is established. Text processing (sentiment analysis) enables smart classification and prioritization, while serverless tools help automate other workflow areas.</a:t>
            </a:r>
          </a:p>
          <a:p>
            <a:endParaRPr lang="en-US" dirty="0"/>
          </a:p>
          <a:p>
            <a:r>
              <a:rPr lang="en-US" dirty="0"/>
              <a:t>❌ Lack of traceability and monitoring</a:t>
            </a:r>
          </a:p>
          <a:p>
            <a:r>
              <a:rPr lang="en-US" dirty="0"/>
              <a:t>✅ Solution: Results are logged in Google Sheets with timestamps and processing tags. Looker Studio connects directly to generate real-time dashboards, supporting team performance monitoring and statistics generation.</a:t>
            </a:r>
          </a:p>
          <a:p>
            <a:endParaRPr lang="en-US" dirty="0"/>
          </a:p>
          <a:p>
            <a:r>
              <a:rPr lang="en-US" dirty="0"/>
              <a:t>❌ Missing rules, priorities, and alerts</a:t>
            </a:r>
          </a:p>
          <a:p>
            <a:r>
              <a:rPr lang="en-US" dirty="0"/>
              <a:t>✅ Solution: Standardization and process analysis, supported by technology and analysis models, assign urgency and priority to each lead. Automatic alerts are generated by email (Apps Script + Gmail) or through task creation based on urgency levels.</a:t>
            </a:r>
          </a:p>
        </p:txBody>
      </p:sp>
      <p:sp>
        <p:nvSpPr>
          <p:cNvPr id="4" name="Marcador de número de diapositiva 3"/>
          <p:cNvSpPr>
            <a:spLocks noGrp="1"/>
          </p:cNvSpPr>
          <p:nvPr>
            <p:ph type="sldNum" sz="quarter" idx="5"/>
          </p:nvPr>
        </p:nvSpPr>
        <p:spPr/>
        <p:txBody>
          <a:bodyPr/>
          <a:lstStyle/>
          <a:p>
            <a:fld id="{9205E371-F7E9-4730-9963-793EC3641F5B}" type="slidenum">
              <a:rPr lang="en-US" smtClean="0"/>
              <a:t>9</a:t>
            </a:fld>
            <a:endParaRPr lang="en-US"/>
          </a:p>
        </p:txBody>
      </p:sp>
    </p:spTree>
    <p:extLst>
      <p:ext uri="{BB962C8B-B14F-4D97-AF65-F5344CB8AC3E}">
        <p14:creationId xmlns:p14="http://schemas.microsoft.com/office/powerpoint/2010/main" val="2097260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9453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139517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1442542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F622FB39-972C-4680-B65C-C49FB5E9B64A}" type="datetimeFigureOut">
              <a:rPr lang="es-CL" smtClean="0"/>
              <a:t>17-11-2025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961462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622FB39-972C-4680-B65C-C49FB5E9B64A}" type="datetimeFigureOut">
              <a:rPr lang="es-CL" smtClean="0"/>
              <a:t>17-11-2025</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549083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F622FB39-972C-4680-B65C-C49FB5E9B64A}" type="datetimeFigureOut">
              <a:rPr lang="es-CL" smtClean="0"/>
              <a:t>17-11-2025</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2986610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22FB39-972C-4680-B65C-C49FB5E9B64A}" type="datetimeFigureOut">
              <a:rPr lang="es-CL" smtClean="0"/>
              <a:t>17-11-2025</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1866512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622FB39-972C-4680-B65C-C49FB5E9B64A}" type="datetimeFigureOut">
              <a:rPr lang="es-CL" smtClean="0"/>
              <a:t>17-11-2025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2312861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622FB39-972C-4680-B65C-C49FB5E9B64A}" type="datetimeFigureOut">
              <a:rPr lang="es-CL" smtClean="0"/>
              <a:t>17-11-2025</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3410157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F622FB39-972C-4680-B65C-C49FB5E9B64A}" type="datetimeFigureOut">
              <a:rPr lang="es-CL" smtClean="0"/>
              <a:t>17-11-2025</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2625940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1159307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190692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1702991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856022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1470930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16726570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622FB39-972C-4680-B65C-C49FB5E9B64A}" type="datetimeFigureOut">
              <a:rPr lang="es-CL" smtClean="0"/>
              <a:t>17-11-2025</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4A22DB6E-0D25-4678-B44A-B307BABDB837}" type="slidenum">
              <a:rPr lang="es-CL" smtClean="0"/>
              <a:t>‹Nº›</a:t>
            </a:fld>
            <a:endParaRPr lang="es-CL"/>
          </a:p>
        </p:txBody>
      </p:sp>
    </p:spTree>
    <p:extLst>
      <p:ext uri="{BB962C8B-B14F-4D97-AF65-F5344CB8AC3E}">
        <p14:creationId xmlns:p14="http://schemas.microsoft.com/office/powerpoint/2010/main" val="4099999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F622FB39-972C-4680-B65C-C49FB5E9B64A}" type="datetimeFigureOut">
              <a:rPr lang="es-CL" smtClean="0"/>
              <a:t>17-11-2025</a:t>
            </a:fld>
            <a:endParaRPr lang="es-CL"/>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s-CL"/>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4A22DB6E-0D25-4678-B44A-B307BABDB837}" type="slidenum">
              <a:rPr lang="es-CL" smtClean="0"/>
              <a:t>‹Nº›</a:t>
            </a:fld>
            <a:endParaRPr lang="es-CL"/>
          </a:p>
        </p:txBody>
      </p:sp>
    </p:spTree>
    <p:extLst>
      <p:ext uri="{BB962C8B-B14F-4D97-AF65-F5344CB8AC3E}">
        <p14:creationId xmlns:p14="http://schemas.microsoft.com/office/powerpoint/2010/main" val="159140233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jpeg"/><Relationship Id="rId5" Type="http://schemas.openxmlformats.org/officeDocument/2006/relationships/image" Target="../media/image9.jpeg"/><Relationship Id="rId10" Type="http://schemas.openxmlformats.org/officeDocument/2006/relationships/image" Target="../media/image14.png"/><Relationship Id="rId4" Type="http://schemas.openxmlformats.org/officeDocument/2006/relationships/image" Target="../media/image2.svg"/><Relationship Id="rId9"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D9EE677-A2D1-D988-EA2D-3BA49C960561}"/>
              </a:ext>
            </a:extLst>
          </p:cNvPr>
          <p:cNvSpPr txBox="1"/>
          <p:nvPr/>
        </p:nvSpPr>
        <p:spPr>
          <a:xfrm>
            <a:off x="1292204" y="2571544"/>
            <a:ext cx="5826397" cy="1938992"/>
          </a:xfrm>
          <a:prstGeom prst="rect">
            <a:avLst/>
          </a:prstGeom>
          <a:noFill/>
        </p:spPr>
        <p:txBody>
          <a:bodyPr wrap="square" rtlCol="0">
            <a:spAutoFit/>
          </a:bodyPr>
          <a:lstStyle/>
          <a:p>
            <a:pPr algn="ctr">
              <a:defRPr/>
            </a:pPr>
            <a:r>
              <a:rPr lang="en-US" sz="4000" b="1" dirty="0">
                <a:latin typeface="Brandon Grotesque Bold" panose="020B0803020203060202" pitchFamily="34" charset="0"/>
                <a:cs typeface="Segoe UI Semilight" panose="020B0402040204020203" pitchFamily="34" charset="0"/>
              </a:rPr>
              <a:t>AUTOMATION OF THE </a:t>
            </a:r>
          </a:p>
          <a:p>
            <a:pPr algn="ctr">
              <a:defRPr/>
            </a:pPr>
            <a:r>
              <a:rPr lang="en-US" sz="4000" b="1" dirty="0">
                <a:latin typeface="Brandon Grotesque Bold" panose="020B0803020203060202" pitchFamily="34" charset="0"/>
                <a:cs typeface="Segoe UI Semilight" panose="020B0402040204020203" pitchFamily="34" charset="0"/>
              </a:rPr>
              <a:t>MARKETING LEADS PROCESS</a:t>
            </a:r>
          </a:p>
        </p:txBody>
      </p:sp>
    </p:spTree>
    <p:extLst>
      <p:ext uri="{BB962C8B-B14F-4D97-AF65-F5344CB8AC3E}">
        <p14:creationId xmlns:p14="http://schemas.microsoft.com/office/powerpoint/2010/main" val="194283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9D0B45C-4308-CF2C-0332-47EF3A78E1FC}"/>
              </a:ext>
            </a:extLst>
          </p:cNvPr>
          <p:cNvSpPr txBox="1"/>
          <p:nvPr/>
        </p:nvSpPr>
        <p:spPr>
          <a:xfrm>
            <a:off x="413258" y="374585"/>
            <a:ext cx="5835142" cy="5078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s-AR" sz="2700" b="1" dirty="0">
                <a:latin typeface="Brandon Grotesque Bold" panose="020B0803020203060202" pitchFamily="34" charset="0"/>
                <a:cs typeface="Segoe UI Semilight" panose="020B0402040204020203" pitchFamily="34" charset="0"/>
              </a:rPr>
              <a:t>CONTEXT AND NEEDS</a:t>
            </a:r>
            <a:endParaRPr kumimoji="0" lang="es-AR" sz="2700" b="1" i="0" u="none" strike="noStrike" kern="1200" cap="none" spc="0" normalizeH="0" baseline="0" noProof="0" dirty="0">
              <a:ln>
                <a:noFill/>
              </a:ln>
              <a:effectLst/>
              <a:uLnTx/>
              <a:uFillTx/>
              <a:latin typeface="Brandon Grotesque Bold" panose="020B0803020203060202" pitchFamily="34" charset="0"/>
              <a:cs typeface="Segoe UI Semilight" panose="020B0402040204020203" pitchFamily="34" charset="0"/>
            </a:endParaRPr>
          </a:p>
        </p:txBody>
      </p:sp>
      <p:sp>
        <p:nvSpPr>
          <p:cNvPr id="6" name="CuadroTexto 5">
            <a:extLst>
              <a:ext uri="{FF2B5EF4-FFF2-40B4-BE49-F238E27FC236}">
                <a16:creationId xmlns:a16="http://schemas.microsoft.com/office/drawing/2014/main" id="{9221D561-8055-C3B0-18BE-DB990B582DC7}"/>
              </a:ext>
            </a:extLst>
          </p:cNvPr>
          <p:cNvSpPr txBox="1"/>
          <p:nvPr/>
        </p:nvSpPr>
        <p:spPr>
          <a:xfrm>
            <a:off x="711200" y="1836064"/>
            <a:ext cx="10769600" cy="3185872"/>
          </a:xfrm>
          <a:prstGeom prst="rect">
            <a:avLst/>
          </a:prstGeom>
          <a:noFill/>
        </p:spPr>
        <p:txBody>
          <a:bodyPr wrap="square">
            <a:spAutoFit/>
          </a:bodyPr>
          <a:lstStyle/>
          <a:p>
            <a:pPr algn="just">
              <a:lnSpc>
                <a:spcPct val="107000"/>
              </a:lnSpc>
              <a:spcAft>
                <a:spcPts val="1200"/>
              </a:spcAft>
            </a:pPr>
            <a:r>
              <a:rPr lang="en-US" sz="2000" dirty="0">
                <a:latin typeface="Segoe UI" panose="020B0502040204020203" pitchFamily="34" charset="0"/>
                <a:cs typeface="Segoe UI" panose="020B0502040204020203" pitchFamily="34" charset="0"/>
              </a:rPr>
              <a:t>Marketing Department currently collects customer interest for bank products through emails received from various sources including branches as well as call centre. These emails do not use standard templates and haphazard in nature, with the department being unable to action since necessary information to follow-up on the customer’s interest is not available most of the time. Besides, any reporting done for this purpose is done manually and considered as incomplete. </a:t>
            </a:r>
          </a:p>
          <a:p>
            <a:pPr algn="just">
              <a:lnSpc>
                <a:spcPct val="107000"/>
              </a:lnSpc>
              <a:spcAft>
                <a:spcPts val="1200"/>
              </a:spcAft>
            </a:pPr>
            <a:r>
              <a:rPr lang="en-US" sz="2000" dirty="0">
                <a:latin typeface="Segoe UI" panose="020B0502040204020203" pitchFamily="34" charset="0"/>
                <a:cs typeface="Segoe UI" panose="020B0502040204020203" pitchFamily="34" charset="0"/>
              </a:rPr>
              <a:t>The following section presents a series of ideas aimed at understanding the problem, its main challenges, and the possible ways to solve them through the combined implementation of process engineering and digital and automation technologies.</a:t>
            </a:r>
            <a:endParaRPr lang="es-CL"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93794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5D71C-0EA3-8A8F-D741-1FE00865BAE1}"/>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E754B917-B7B6-667B-DC4F-1379BC4F5953}"/>
              </a:ext>
            </a:extLst>
          </p:cNvPr>
          <p:cNvSpPr txBox="1"/>
          <p:nvPr/>
        </p:nvSpPr>
        <p:spPr>
          <a:xfrm>
            <a:off x="413258" y="374585"/>
            <a:ext cx="5682742" cy="507831"/>
          </a:xfrm>
          <a:prstGeom prst="rect">
            <a:avLst/>
          </a:prstGeom>
          <a:noFill/>
        </p:spPr>
        <p:txBody>
          <a:bodyPr wrap="square" rtlCol="0">
            <a:spAutoFit/>
          </a:bodyPr>
          <a:lstStyle/>
          <a:p>
            <a:pPr lvl="0">
              <a:defRPr/>
            </a:pPr>
            <a:r>
              <a:rPr lang="es-AR" sz="2700" b="1" dirty="0">
                <a:latin typeface="Brandon Grotesque Bold" panose="020B0803020203060202" pitchFamily="34" charset="0"/>
                <a:cs typeface="Segoe UI Semilight" panose="020B0402040204020203" pitchFamily="34" charset="0"/>
              </a:rPr>
              <a:t>UNDERSTANDING THE REQUIREMENT</a:t>
            </a:r>
          </a:p>
        </p:txBody>
      </p:sp>
      <p:sp>
        <p:nvSpPr>
          <p:cNvPr id="8" name="CuadroTexto 7">
            <a:extLst>
              <a:ext uri="{FF2B5EF4-FFF2-40B4-BE49-F238E27FC236}">
                <a16:creationId xmlns:a16="http://schemas.microsoft.com/office/drawing/2014/main" id="{F88BB6A9-385D-086A-3793-6EA89F685762}"/>
              </a:ext>
            </a:extLst>
          </p:cNvPr>
          <p:cNvSpPr txBox="1"/>
          <p:nvPr/>
        </p:nvSpPr>
        <p:spPr>
          <a:xfrm>
            <a:off x="639694" y="1432266"/>
            <a:ext cx="11039162" cy="4093428"/>
          </a:xfrm>
          <a:prstGeom prst="rect">
            <a:avLst/>
          </a:prstGeom>
          <a:noFill/>
        </p:spPr>
        <p:txBody>
          <a:bodyPr wrap="square">
            <a:spAutoFit/>
          </a:bodyPr>
          <a:lstStyle/>
          <a:p>
            <a:pPr marL="173038" indent="-173038">
              <a:buFont typeface="Arial" panose="020B0604020202020204" pitchFamily="34" charset="0"/>
              <a:buChar char="•"/>
            </a:pPr>
            <a:r>
              <a:rPr lang="en-US" sz="2000" noProof="0" dirty="0">
                <a:latin typeface="Segoe UI" panose="020B0502040204020203" pitchFamily="34" charset="0"/>
                <a:cs typeface="Segoe UI" panose="020B0502040204020203" pitchFamily="34" charset="0"/>
              </a:rPr>
              <a:t>✅ The main objective is to </a:t>
            </a:r>
            <a:r>
              <a:rPr lang="en-US" sz="2000" dirty="0">
                <a:latin typeface="Segoe UI" panose="020B0502040204020203" pitchFamily="34" charset="0"/>
                <a:cs typeface="Segoe UI" panose="020B0502040204020203" pitchFamily="34" charset="0"/>
              </a:rPr>
              <a:t>c</a:t>
            </a:r>
            <a:r>
              <a:rPr lang="en-US" sz="2000" noProof="0" dirty="0" err="1">
                <a:latin typeface="Segoe UI" panose="020B0502040204020203" pitchFamily="34" charset="0"/>
                <a:cs typeface="Segoe UI" panose="020B0502040204020203" pitchFamily="34" charset="0"/>
              </a:rPr>
              <a:t>ollect</a:t>
            </a:r>
            <a:r>
              <a:rPr lang="en-US" sz="2000" noProof="0" dirty="0">
                <a:latin typeface="Segoe UI" panose="020B0502040204020203" pitchFamily="34" charset="0"/>
                <a:cs typeface="Segoe UI" panose="020B0502040204020203" pitchFamily="34" charset="0"/>
              </a:rPr>
              <a:t> customer interest in banking services and products.</a:t>
            </a:r>
          </a:p>
          <a:p>
            <a:pPr marL="173038" indent="-173038">
              <a:buFont typeface="Arial" panose="020B0604020202020204" pitchFamily="34" charset="0"/>
              <a:buChar char="•"/>
            </a:pPr>
            <a:endParaRPr lang="en-US" sz="2000" noProof="0" dirty="0">
              <a:latin typeface="Segoe UI" panose="020B0502040204020203" pitchFamily="34" charset="0"/>
              <a:cs typeface="Segoe UI" panose="020B0502040204020203" pitchFamily="34" charset="0"/>
            </a:endParaRPr>
          </a:p>
          <a:p>
            <a:pPr marL="173038" indent="-173038">
              <a:buFont typeface="Arial" panose="020B0604020202020204" pitchFamily="34" charset="0"/>
              <a:buChar char="•"/>
            </a:pPr>
            <a:r>
              <a:rPr lang="en-US" sz="2000" noProof="0" dirty="0">
                <a:latin typeface="Segoe UI" panose="020B0502040204020203" pitchFamily="34" charset="0"/>
                <a:cs typeface="Segoe UI" panose="020B0502040204020203" pitchFamily="34" charset="0"/>
              </a:rPr>
              <a:t>🛠️ The </a:t>
            </a:r>
            <a:r>
              <a:rPr lang="en-US" sz="2000" dirty="0">
                <a:latin typeface="Segoe UI" panose="020B0502040204020203" pitchFamily="34" charset="0"/>
                <a:cs typeface="Segoe UI" panose="020B0502040204020203" pitchFamily="34" charset="0"/>
              </a:rPr>
              <a:t>c</a:t>
            </a:r>
            <a:r>
              <a:rPr lang="en-US" sz="2000" noProof="0" dirty="0" err="1">
                <a:latin typeface="Segoe UI" panose="020B0502040204020203" pitchFamily="34" charset="0"/>
                <a:cs typeface="Segoe UI" panose="020B0502040204020203" pitchFamily="34" charset="0"/>
              </a:rPr>
              <a:t>urrent</a:t>
            </a:r>
            <a:r>
              <a:rPr lang="en-US" sz="2000" noProof="0" dirty="0">
                <a:latin typeface="Segoe UI" panose="020B0502040204020203" pitchFamily="34" charset="0"/>
                <a:cs typeface="Segoe UI" panose="020B0502040204020203" pitchFamily="34" charset="0"/>
              </a:rPr>
              <a:t> process</a:t>
            </a:r>
            <a:r>
              <a:rPr lang="en-US" sz="2000" dirty="0">
                <a:latin typeface="Segoe UI" panose="020B0502040204020203" pitchFamily="34" charset="0"/>
                <a:cs typeface="Segoe UI" panose="020B0502040204020203" pitchFamily="34" charset="0"/>
              </a:rPr>
              <a:t> is highly m</a:t>
            </a:r>
            <a:r>
              <a:rPr lang="en-US" sz="2000" noProof="0" dirty="0" err="1">
                <a:latin typeface="Segoe UI" panose="020B0502040204020203" pitchFamily="34" charset="0"/>
                <a:cs typeface="Segoe UI" panose="020B0502040204020203" pitchFamily="34" charset="0"/>
              </a:rPr>
              <a:t>anual</a:t>
            </a:r>
            <a:r>
              <a:rPr lang="en-US" sz="2000" noProof="0" dirty="0">
                <a:latin typeface="Segoe UI" panose="020B0502040204020203" pitchFamily="34" charset="0"/>
                <a:cs typeface="Segoe UI" panose="020B0502040204020203" pitchFamily="34" charset="0"/>
              </a:rPr>
              <a:t>, based on email communication.</a:t>
            </a:r>
          </a:p>
          <a:p>
            <a:pPr marL="173038" indent="-173038">
              <a:buFont typeface="Arial" panose="020B0604020202020204" pitchFamily="34" charset="0"/>
              <a:buChar char="•"/>
            </a:pPr>
            <a:endParaRPr lang="en-US" sz="2000" noProof="0" dirty="0">
              <a:latin typeface="Segoe UI" panose="020B0502040204020203" pitchFamily="34" charset="0"/>
              <a:cs typeface="Segoe UI" panose="020B0502040204020203" pitchFamily="34" charset="0"/>
            </a:endParaRPr>
          </a:p>
          <a:p>
            <a:pPr marL="173038" indent="-173038">
              <a:buFont typeface="Arial" panose="020B0604020202020204" pitchFamily="34" charset="0"/>
              <a:buChar char="•"/>
            </a:pPr>
            <a:r>
              <a:rPr lang="en-US" sz="2000" noProof="0" dirty="0">
                <a:latin typeface="Segoe UI" panose="020B0502040204020203" pitchFamily="34" charset="0"/>
                <a:cs typeface="Segoe UI" panose="020B0502040204020203" pitchFamily="34" charset="0"/>
              </a:rPr>
              <a:t>⚠️ The main issue </a:t>
            </a:r>
            <a:r>
              <a:rPr lang="en-US" sz="2000" dirty="0">
                <a:latin typeface="Segoe UI" panose="020B0502040204020203" pitchFamily="34" charset="0"/>
                <a:cs typeface="Segoe UI" panose="020B0502040204020203" pitchFamily="34" charset="0"/>
              </a:rPr>
              <a:t>is the l</a:t>
            </a:r>
            <a:r>
              <a:rPr lang="en-US" sz="2000" noProof="0" dirty="0">
                <a:latin typeface="Segoe UI" panose="020B0502040204020203" pitchFamily="34" charset="0"/>
                <a:cs typeface="Segoe UI" panose="020B0502040204020203" pitchFamily="34" charset="0"/>
              </a:rPr>
              <a:t>ow efficiency due to manual handling and process immaturity.</a:t>
            </a:r>
          </a:p>
          <a:p>
            <a:pPr marL="173038" indent="-173038">
              <a:buFont typeface="Arial" panose="020B0604020202020204" pitchFamily="34" charset="0"/>
              <a:buChar char="•"/>
            </a:pPr>
            <a:endParaRPr lang="en-US" sz="2000" noProof="0" dirty="0">
              <a:latin typeface="Segoe UI" panose="020B0502040204020203" pitchFamily="34" charset="0"/>
              <a:cs typeface="Segoe UI" panose="020B0502040204020203" pitchFamily="34" charset="0"/>
            </a:endParaRPr>
          </a:p>
          <a:p>
            <a:pPr marL="173038" indent="-173038">
              <a:buFont typeface="Arial" panose="020B0604020202020204" pitchFamily="34" charset="0"/>
              <a:buChar char="•"/>
            </a:pPr>
            <a:r>
              <a:rPr lang="en-US" sz="2000" noProof="0" dirty="0">
                <a:latin typeface="Segoe UI" panose="020B0502040204020203" pitchFamily="34" charset="0"/>
                <a:cs typeface="Segoe UI" panose="020B0502040204020203" pitchFamily="34" charset="0"/>
              </a:rPr>
              <a:t>🧑‍💼 This process Involves the following departments: Marketing, Sales, and Customer Support.</a:t>
            </a:r>
          </a:p>
          <a:p>
            <a:pPr marL="173038" indent="-173038">
              <a:buFont typeface="Arial" panose="020B0604020202020204" pitchFamily="34" charset="0"/>
              <a:buChar char="•"/>
            </a:pPr>
            <a:endParaRPr lang="en-US" sz="2000" noProof="0" dirty="0">
              <a:latin typeface="Segoe UI" panose="020B0502040204020203" pitchFamily="34" charset="0"/>
              <a:cs typeface="Segoe UI" panose="020B0502040204020203" pitchFamily="34" charset="0"/>
            </a:endParaRPr>
          </a:p>
          <a:p>
            <a:pPr marL="173038" indent="-173038">
              <a:buFont typeface="Arial" panose="020B0604020202020204" pitchFamily="34" charset="0"/>
              <a:buChar char="•"/>
            </a:pPr>
            <a:r>
              <a:rPr lang="en-US" sz="2000" noProof="0" dirty="0">
                <a:latin typeface="Segoe UI" panose="020B0502040204020203" pitchFamily="34" charset="0"/>
                <a:cs typeface="Segoe UI" panose="020B0502040204020203" pitchFamily="34" charset="0"/>
              </a:rPr>
              <a:t>💻 Any technology may be used to implement the proposed solution.</a:t>
            </a:r>
          </a:p>
          <a:p>
            <a:pPr marL="173038" indent="-173038">
              <a:buFont typeface="Arial" panose="020B0604020202020204" pitchFamily="34" charset="0"/>
              <a:buChar char="•"/>
            </a:pPr>
            <a:endParaRPr lang="en-US" sz="2000" noProof="0" dirty="0">
              <a:latin typeface="Segoe UI" panose="020B0502040204020203" pitchFamily="34" charset="0"/>
              <a:cs typeface="Segoe UI" panose="020B0502040204020203" pitchFamily="34" charset="0"/>
            </a:endParaRPr>
          </a:p>
          <a:p>
            <a:pPr marL="173038" indent="-173038">
              <a:buFont typeface="Arial" panose="020B0604020202020204" pitchFamily="34" charset="0"/>
              <a:buChar char="•"/>
            </a:pPr>
            <a:r>
              <a:rPr lang="en-US" sz="2000" noProof="0" dirty="0">
                <a:latin typeface="Segoe UI" panose="020B0502040204020203" pitchFamily="34" charset="0"/>
                <a:cs typeface="Segoe UI" panose="020B0502040204020203" pitchFamily="34" charset="0"/>
              </a:rPr>
              <a:t>📍 </a:t>
            </a:r>
            <a:r>
              <a:rPr lang="en-US" sz="2000" dirty="0">
                <a:latin typeface="Segoe UI" panose="020B0502040204020203" pitchFamily="34" charset="0"/>
                <a:cs typeface="Segoe UI" panose="020B0502040204020203" pitchFamily="34" charset="0"/>
              </a:rPr>
              <a:t>The scope is focused only on branches and the call center.</a:t>
            </a:r>
          </a:p>
          <a:p>
            <a:pPr marL="173038" indent="-173038">
              <a:buFont typeface="Arial" panose="020B0604020202020204" pitchFamily="34" charset="0"/>
              <a:buChar char="•"/>
            </a:pPr>
            <a:endParaRPr lang="en-US" sz="2000" noProof="0" dirty="0">
              <a:latin typeface="Segoe UI" panose="020B0502040204020203" pitchFamily="34" charset="0"/>
              <a:cs typeface="Segoe UI" panose="020B0502040204020203" pitchFamily="34" charset="0"/>
            </a:endParaRPr>
          </a:p>
          <a:p>
            <a:pPr marL="173038" indent="-173038">
              <a:buFont typeface="Arial" panose="020B0604020202020204" pitchFamily="34" charset="0"/>
              <a:buChar char="•"/>
            </a:pPr>
            <a:r>
              <a:rPr lang="en-US" sz="2000" noProof="0" dirty="0">
                <a:latin typeface="Segoe UI" panose="020B0502040204020203" pitchFamily="34" charset="0"/>
                <a:cs typeface="Segoe UI" panose="020B0502040204020203" pitchFamily="34" charset="0"/>
              </a:rPr>
              <a:t>📊 Business rules, data structure, and result reporting are defined by the presenter.</a:t>
            </a:r>
          </a:p>
        </p:txBody>
      </p:sp>
    </p:spTree>
    <p:extLst>
      <p:ext uri="{BB962C8B-B14F-4D97-AF65-F5344CB8AC3E}">
        <p14:creationId xmlns:p14="http://schemas.microsoft.com/office/powerpoint/2010/main" val="185969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500"/>
                                        <p:tgtEl>
                                          <p:spTgt spid="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fade">
                                      <p:cBhvr>
                                        <p:cTn id="20" dur="500"/>
                                        <p:tgtEl>
                                          <p:spTgt spid="8">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fade">
                                      <p:cBhvr>
                                        <p:cTn id="25" dur="500"/>
                                        <p:tgtEl>
                                          <p:spTgt spid="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
                                            <p:txEl>
                                              <p:pRg st="6" end="6"/>
                                            </p:txEl>
                                          </p:spTgt>
                                        </p:tgtEl>
                                        <p:attrNameLst>
                                          <p:attrName>style.visibility</p:attrName>
                                        </p:attrNameLst>
                                      </p:cBhvr>
                                      <p:to>
                                        <p:strVal val="visible"/>
                                      </p:to>
                                    </p:set>
                                    <p:animEffect transition="in" filter="fade">
                                      <p:cBhvr>
                                        <p:cTn id="30" dur="500"/>
                                        <p:tgtEl>
                                          <p:spTgt spid="8">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animEffect transition="in" filter="fade">
                                      <p:cBhvr>
                                        <p:cTn id="35" dur="500"/>
                                        <p:tgtEl>
                                          <p:spTgt spid="8">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
                                            <p:txEl>
                                              <p:pRg st="10" end="10"/>
                                            </p:txEl>
                                          </p:spTgt>
                                        </p:tgtEl>
                                        <p:attrNameLst>
                                          <p:attrName>style.visibility</p:attrName>
                                        </p:attrNameLst>
                                      </p:cBhvr>
                                      <p:to>
                                        <p:strVal val="visible"/>
                                      </p:to>
                                    </p:set>
                                    <p:animEffect transition="in" filter="fade">
                                      <p:cBhvr>
                                        <p:cTn id="40" dur="500"/>
                                        <p:tgtEl>
                                          <p:spTgt spid="8">
                                            <p:txEl>
                                              <p:pRg st="10" end="1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8">
                                            <p:txEl>
                                              <p:pRg st="12" end="12"/>
                                            </p:txEl>
                                          </p:spTgt>
                                        </p:tgtEl>
                                        <p:attrNameLst>
                                          <p:attrName>style.visibility</p:attrName>
                                        </p:attrNameLst>
                                      </p:cBhvr>
                                      <p:to>
                                        <p:strVal val="visible"/>
                                      </p:to>
                                    </p:set>
                                    <p:animEffect transition="in" filter="fade">
                                      <p:cBhvr>
                                        <p:cTn id="45" dur="5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17">
            <a:extLst>
              <a:ext uri="{FF2B5EF4-FFF2-40B4-BE49-F238E27FC236}">
                <a16:creationId xmlns:a16="http://schemas.microsoft.com/office/drawing/2014/main" id="{57B429B9-59E5-99F9-7E11-C29E8A21F555}"/>
              </a:ext>
            </a:extLst>
          </p:cNvPr>
          <p:cNvSpPr txBox="1"/>
          <p:nvPr/>
        </p:nvSpPr>
        <p:spPr>
          <a:xfrm>
            <a:off x="4110334" y="3075057"/>
            <a:ext cx="3971332" cy="707886"/>
          </a:xfrm>
          <a:prstGeom prst="rect">
            <a:avLst/>
          </a:prstGeom>
          <a:noFill/>
        </p:spPr>
        <p:txBody>
          <a:bodyPr wrap="square" rtlCol="0">
            <a:spAutoFit/>
          </a:bodyPr>
          <a:lstStyle>
            <a:defPPr>
              <a:defRPr lang="en-US"/>
            </a:defPPr>
            <a:lvl1pPr algn="ctr">
              <a:defRPr sz="4000" b="1">
                <a:latin typeface="Brandon Grotesque Bold" panose="020B0803020203060202" pitchFamily="34" charset="0"/>
                <a:cs typeface="Segoe UI Semilight" panose="020B0402040204020203" pitchFamily="34" charset="0"/>
              </a:defRPr>
            </a:lvl1pPr>
          </a:lstStyle>
          <a:p>
            <a:r>
              <a:rPr lang="es-ES_tradnl" dirty="0"/>
              <a:t>PAINT POINTS</a:t>
            </a:r>
          </a:p>
        </p:txBody>
      </p:sp>
    </p:spTree>
    <p:extLst>
      <p:ext uri="{BB962C8B-B14F-4D97-AF65-F5344CB8AC3E}">
        <p14:creationId xmlns:p14="http://schemas.microsoft.com/office/powerpoint/2010/main" val="178443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C58A26F-C260-FD08-2736-BA271662D836}"/>
              </a:ext>
            </a:extLst>
          </p:cNvPr>
          <p:cNvSpPr txBox="1"/>
          <p:nvPr/>
        </p:nvSpPr>
        <p:spPr>
          <a:xfrm>
            <a:off x="413258" y="374585"/>
            <a:ext cx="4386801" cy="507831"/>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sz="2700" b="1">
                <a:latin typeface="Brandon Grotesque Bold" panose="020B0803020203060202" pitchFamily="34" charset="0"/>
                <a:cs typeface="Segoe UI Semilight" panose="020B0402040204020203" pitchFamily="34" charset="0"/>
              </a:defRPr>
            </a:lvl1pPr>
          </a:lstStyle>
          <a:p>
            <a:r>
              <a:rPr lang="es-AR" dirty="0"/>
              <a:t>PAINT POINTS</a:t>
            </a:r>
          </a:p>
        </p:txBody>
      </p:sp>
      <p:sp>
        <p:nvSpPr>
          <p:cNvPr id="6" name="CuadroTexto 5">
            <a:extLst>
              <a:ext uri="{FF2B5EF4-FFF2-40B4-BE49-F238E27FC236}">
                <a16:creationId xmlns:a16="http://schemas.microsoft.com/office/drawing/2014/main" id="{2D0096B2-FF14-26FD-6A3B-CF527D771DD6}"/>
              </a:ext>
            </a:extLst>
          </p:cNvPr>
          <p:cNvSpPr txBox="1"/>
          <p:nvPr/>
        </p:nvSpPr>
        <p:spPr>
          <a:xfrm>
            <a:off x="413258" y="911237"/>
            <a:ext cx="10941507" cy="369332"/>
          </a:xfrm>
          <a:prstGeom prst="rect">
            <a:avLst/>
          </a:prstGeom>
          <a:noFill/>
        </p:spPr>
        <p:txBody>
          <a:bodyPr wrap="square">
            <a:spAutoFit/>
          </a:bodyPr>
          <a:lstStyle/>
          <a:p>
            <a:r>
              <a:rPr lang="en-US" dirty="0">
                <a:latin typeface="Segoe UI" panose="020B0502040204020203" pitchFamily="34" charset="0"/>
                <a:cs typeface="Segoe UI" panose="020B0502040204020203" pitchFamily="34" charset="0"/>
              </a:rPr>
              <a:t>A high-level overview of the current </a:t>
            </a:r>
            <a:r>
              <a:rPr lang="en-US" b="1" dirty="0">
                <a:latin typeface="Segoe UI" panose="020B0502040204020203" pitchFamily="34" charset="0"/>
                <a:cs typeface="Segoe UI" panose="020B0502040204020203" pitchFamily="34" charset="0"/>
              </a:rPr>
              <a:t>As-Is</a:t>
            </a:r>
            <a:r>
              <a:rPr lang="en-US" dirty="0">
                <a:latin typeface="Segoe UI" panose="020B0502040204020203" pitchFamily="34" charset="0"/>
                <a:cs typeface="Segoe UI" panose="020B0502040204020203" pitchFamily="34" charset="0"/>
              </a:rPr>
              <a:t> process is shown below.</a:t>
            </a:r>
          </a:p>
        </p:txBody>
      </p:sp>
      <p:sp>
        <p:nvSpPr>
          <p:cNvPr id="7" name="Elipse 6">
            <a:extLst>
              <a:ext uri="{FF2B5EF4-FFF2-40B4-BE49-F238E27FC236}">
                <a16:creationId xmlns:a16="http://schemas.microsoft.com/office/drawing/2014/main" id="{CE439E57-7617-D7C7-21D3-9352254E1757}"/>
              </a:ext>
            </a:extLst>
          </p:cNvPr>
          <p:cNvSpPr/>
          <p:nvPr/>
        </p:nvSpPr>
        <p:spPr>
          <a:xfrm>
            <a:off x="1357435" y="2622156"/>
            <a:ext cx="182448" cy="170666"/>
          </a:xfrm>
          <a:prstGeom prst="ellipse">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Elipse 7">
            <a:extLst>
              <a:ext uri="{FF2B5EF4-FFF2-40B4-BE49-F238E27FC236}">
                <a16:creationId xmlns:a16="http://schemas.microsoft.com/office/drawing/2014/main" id="{55B64258-D80A-3DBE-387C-DD907D72F9EF}"/>
              </a:ext>
            </a:extLst>
          </p:cNvPr>
          <p:cNvSpPr/>
          <p:nvPr/>
        </p:nvSpPr>
        <p:spPr>
          <a:xfrm>
            <a:off x="8633833" y="5041465"/>
            <a:ext cx="182448" cy="170666"/>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esquinas redondeadas 8">
            <a:extLst>
              <a:ext uri="{FF2B5EF4-FFF2-40B4-BE49-F238E27FC236}">
                <a16:creationId xmlns:a16="http://schemas.microsoft.com/office/drawing/2014/main" id="{EACBEBDA-01BB-DBD2-DD42-0AA92EE3A6F0}"/>
              </a:ext>
            </a:extLst>
          </p:cNvPr>
          <p:cNvSpPr/>
          <p:nvPr/>
        </p:nvSpPr>
        <p:spPr>
          <a:xfrm>
            <a:off x="1641915" y="4850184"/>
            <a:ext cx="1135705" cy="559902"/>
          </a:xfrm>
          <a:prstGeom prst="roundRect">
            <a:avLst/>
          </a:prstGeom>
          <a:solidFill>
            <a:schemeClr val="tx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bg1"/>
                </a:solidFill>
                <a:latin typeface="Segoe UI" panose="020B0502040204020203" pitchFamily="34" charset="0"/>
                <a:cs typeface="Segoe UI" panose="020B0502040204020203" pitchFamily="34" charset="0"/>
              </a:rPr>
              <a:t>Email is received</a:t>
            </a:r>
          </a:p>
        </p:txBody>
      </p:sp>
      <p:sp>
        <p:nvSpPr>
          <p:cNvPr id="10" name="Rectángulo: esquinas redondeadas 9">
            <a:extLst>
              <a:ext uri="{FF2B5EF4-FFF2-40B4-BE49-F238E27FC236}">
                <a16:creationId xmlns:a16="http://schemas.microsoft.com/office/drawing/2014/main" id="{9A7B1E56-29B4-4FFC-6D8C-5DC8B334D158}"/>
              </a:ext>
            </a:extLst>
          </p:cNvPr>
          <p:cNvSpPr/>
          <p:nvPr/>
        </p:nvSpPr>
        <p:spPr>
          <a:xfrm>
            <a:off x="3191664" y="4846848"/>
            <a:ext cx="1135705" cy="559902"/>
          </a:xfrm>
          <a:prstGeom prst="roundRect">
            <a:avLst/>
          </a:prstGeom>
          <a:solidFill>
            <a:schemeClr val="tx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bg1"/>
                </a:solidFill>
                <a:latin typeface="Segoe UI" panose="020B0502040204020203" pitchFamily="34" charset="0"/>
                <a:cs typeface="Segoe UI" panose="020B0502040204020203" pitchFamily="34" charset="0"/>
              </a:rPr>
              <a:t>Review emails</a:t>
            </a:r>
          </a:p>
        </p:txBody>
      </p:sp>
      <p:sp>
        <p:nvSpPr>
          <p:cNvPr id="11" name="Rectángulo: esquinas redondeadas 10">
            <a:extLst>
              <a:ext uri="{FF2B5EF4-FFF2-40B4-BE49-F238E27FC236}">
                <a16:creationId xmlns:a16="http://schemas.microsoft.com/office/drawing/2014/main" id="{2D4F551D-AC66-58FF-0B33-39AC5E13BC33}"/>
              </a:ext>
            </a:extLst>
          </p:cNvPr>
          <p:cNvSpPr/>
          <p:nvPr/>
        </p:nvSpPr>
        <p:spPr>
          <a:xfrm>
            <a:off x="5535742" y="4846847"/>
            <a:ext cx="1135705" cy="559902"/>
          </a:xfrm>
          <a:prstGeom prst="roundRect">
            <a:avLst/>
          </a:prstGeom>
          <a:solidFill>
            <a:schemeClr val="tx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bg1"/>
                </a:solidFill>
                <a:latin typeface="Segoe UI" panose="020B0502040204020203" pitchFamily="34" charset="0"/>
                <a:cs typeface="Segoe UI" panose="020B0502040204020203" pitchFamily="34" charset="0"/>
              </a:rPr>
              <a:t>Follow Up</a:t>
            </a:r>
          </a:p>
        </p:txBody>
      </p:sp>
      <p:sp>
        <p:nvSpPr>
          <p:cNvPr id="12" name="Rombo 11">
            <a:extLst>
              <a:ext uri="{FF2B5EF4-FFF2-40B4-BE49-F238E27FC236}">
                <a16:creationId xmlns:a16="http://schemas.microsoft.com/office/drawing/2014/main" id="{FCA052E7-4C38-D397-0557-3A637D7759A2}"/>
              </a:ext>
            </a:extLst>
          </p:cNvPr>
          <p:cNvSpPr/>
          <p:nvPr/>
        </p:nvSpPr>
        <p:spPr>
          <a:xfrm>
            <a:off x="4830437" y="5013451"/>
            <a:ext cx="264795" cy="226695"/>
          </a:xfrm>
          <a:prstGeom prst="diamond">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esquinas redondeadas 12">
            <a:extLst>
              <a:ext uri="{FF2B5EF4-FFF2-40B4-BE49-F238E27FC236}">
                <a16:creationId xmlns:a16="http://schemas.microsoft.com/office/drawing/2014/main" id="{D17FE4EB-7BC5-4BE6-93D8-2480859E0250}"/>
              </a:ext>
            </a:extLst>
          </p:cNvPr>
          <p:cNvSpPr/>
          <p:nvPr/>
        </p:nvSpPr>
        <p:spPr>
          <a:xfrm>
            <a:off x="5535742" y="5736863"/>
            <a:ext cx="1135705" cy="559902"/>
          </a:xfrm>
          <a:prstGeom prst="roundRect">
            <a:avLst/>
          </a:prstGeom>
          <a:solidFill>
            <a:schemeClr val="tx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bg1"/>
                </a:solidFill>
                <a:latin typeface="Segoe UI" panose="020B0502040204020203" pitchFamily="34" charset="0"/>
                <a:cs typeface="Segoe UI" panose="020B0502040204020203" pitchFamily="34" charset="0"/>
              </a:rPr>
              <a:t>Other process actions</a:t>
            </a:r>
          </a:p>
        </p:txBody>
      </p:sp>
      <p:sp>
        <p:nvSpPr>
          <p:cNvPr id="14" name="CuadroTexto 13">
            <a:extLst>
              <a:ext uri="{FF2B5EF4-FFF2-40B4-BE49-F238E27FC236}">
                <a16:creationId xmlns:a16="http://schemas.microsoft.com/office/drawing/2014/main" id="{7B234E68-6E7C-5482-E448-E0FF3CC97589}"/>
              </a:ext>
            </a:extLst>
          </p:cNvPr>
          <p:cNvSpPr txBox="1"/>
          <p:nvPr/>
        </p:nvSpPr>
        <p:spPr>
          <a:xfrm>
            <a:off x="4523922" y="4667614"/>
            <a:ext cx="877824" cy="215444"/>
          </a:xfrm>
          <a:prstGeom prst="rect">
            <a:avLst/>
          </a:prstGeom>
          <a:noFill/>
        </p:spPr>
        <p:txBody>
          <a:bodyPr wrap="square">
            <a:spAutoFit/>
          </a:bodyPr>
          <a:lstStyle/>
          <a:p>
            <a:pPr algn="ctr"/>
            <a:r>
              <a:rPr lang="en-US" sz="800" noProof="0" dirty="0">
                <a:solidFill>
                  <a:schemeClr val="tx1"/>
                </a:solidFill>
                <a:latin typeface="Segoe UI" panose="020B0502040204020203" pitchFamily="34" charset="0"/>
                <a:cs typeface="Segoe UI" panose="020B0502040204020203" pitchFamily="34" charset="0"/>
              </a:rPr>
              <a:t>Take action?</a:t>
            </a:r>
          </a:p>
        </p:txBody>
      </p:sp>
      <p:sp>
        <p:nvSpPr>
          <p:cNvPr id="15" name="Rectángulo: esquinas redondeadas 14">
            <a:extLst>
              <a:ext uri="{FF2B5EF4-FFF2-40B4-BE49-F238E27FC236}">
                <a16:creationId xmlns:a16="http://schemas.microsoft.com/office/drawing/2014/main" id="{9E4B2248-2C7E-F61F-E425-6D06D2CC8DE5}"/>
              </a:ext>
            </a:extLst>
          </p:cNvPr>
          <p:cNvSpPr/>
          <p:nvPr/>
        </p:nvSpPr>
        <p:spPr>
          <a:xfrm>
            <a:off x="7115048" y="4846847"/>
            <a:ext cx="1135705" cy="559902"/>
          </a:xfrm>
          <a:prstGeom prst="roundRect">
            <a:avLst/>
          </a:prstGeom>
          <a:solidFill>
            <a:schemeClr val="tx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bg1"/>
                </a:solidFill>
                <a:latin typeface="Segoe UI" panose="020B0502040204020203" pitchFamily="34" charset="0"/>
                <a:cs typeface="Segoe UI" panose="020B0502040204020203" pitchFamily="34" charset="0"/>
              </a:rPr>
              <a:t>Generate report</a:t>
            </a:r>
          </a:p>
        </p:txBody>
      </p:sp>
      <p:cxnSp>
        <p:nvCxnSpPr>
          <p:cNvPr id="16" name="Conector recto de flecha 15">
            <a:extLst>
              <a:ext uri="{FF2B5EF4-FFF2-40B4-BE49-F238E27FC236}">
                <a16:creationId xmlns:a16="http://schemas.microsoft.com/office/drawing/2014/main" id="{7D7336EC-F90F-04D6-F4E4-C8ADDC9477C1}"/>
              </a:ext>
            </a:extLst>
          </p:cNvPr>
          <p:cNvCxnSpPr>
            <a:cxnSpLocks/>
            <a:stCxn id="9" idx="3"/>
            <a:endCxn id="10" idx="1"/>
          </p:cNvCxnSpPr>
          <p:nvPr/>
        </p:nvCxnSpPr>
        <p:spPr>
          <a:xfrm flipV="1">
            <a:off x="2777620" y="5126799"/>
            <a:ext cx="414044" cy="333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angular 16">
            <a:extLst>
              <a:ext uri="{FF2B5EF4-FFF2-40B4-BE49-F238E27FC236}">
                <a16:creationId xmlns:a16="http://schemas.microsoft.com/office/drawing/2014/main" id="{2FEDE252-8346-A52E-F0C4-ECE6FDB3AF1F}"/>
              </a:ext>
            </a:extLst>
          </p:cNvPr>
          <p:cNvCxnSpPr>
            <a:cxnSpLocks/>
            <a:stCxn id="43" idx="3"/>
            <a:endCxn id="9" idx="1"/>
          </p:cNvCxnSpPr>
          <p:nvPr/>
        </p:nvCxnSpPr>
        <p:spPr>
          <a:xfrm flipH="1">
            <a:off x="1641915" y="2707089"/>
            <a:ext cx="3179791" cy="2423046"/>
          </a:xfrm>
          <a:prstGeom prst="bentConnector5">
            <a:avLst>
              <a:gd name="adj1" fmla="val -7189"/>
              <a:gd name="adj2" fmla="val 50000"/>
              <a:gd name="adj3" fmla="val 10718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1C3CB388-6E85-F413-D06F-6CC918215217}"/>
              </a:ext>
            </a:extLst>
          </p:cNvPr>
          <p:cNvCxnSpPr>
            <a:cxnSpLocks/>
            <a:stCxn id="10" idx="3"/>
            <a:endCxn id="12" idx="1"/>
          </p:cNvCxnSpPr>
          <p:nvPr/>
        </p:nvCxnSpPr>
        <p:spPr>
          <a:xfrm>
            <a:off x="4327369" y="5126799"/>
            <a:ext cx="503068"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CB01C329-5FB9-6696-3217-1F7C593621EE}"/>
              </a:ext>
            </a:extLst>
          </p:cNvPr>
          <p:cNvCxnSpPr>
            <a:cxnSpLocks/>
            <a:stCxn id="12" idx="3"/>
            <a:endCxn id="11" idx="1"/>
          </p:cNvCxnSpPr>
          <p:nvPr/>
        </p:nvCxnSpPr>
        <p:spPr>
          <a:xfrm flipV="1">
            <a:off x="5095232" y="5126798"/>
            <a:ext cx="440510" cy="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angular 19">
            <a:extLst>
              <a:ext uri="{FF2B5EF4-FFF2-40B4-BE49-F238E27FC236}">
                <a16:creationId xmlns:a16="http://schemas.microsoft.com/office/drawing/2014/main" id="{FD4F4537-A816-2DB7-DB28-699187BE36BD}"/>
              </a:ext>
            </a:extLst>
          </p:cNvPr>
          <p:cNvCxnSpPr>
            <a:cxnSpLocks/>
            <a:stCxn id="12" idx="2"/>
            <a:endCxn id="13" idx="1"/>
          </p:cNvCxnSpPr>
          <p:nvPr/>
        </p:nvCxnSpPr>
        <p:spPr>
          <a:xfrm rot="16200000" flipH="1">
            <a:off x="4860954" y="5342026"/>
            <a:ext cx="776668" cy="57290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r 20">
            <a:extLst>
              <a:ext uri="{FF2B5EF4-FFF2-40B4-BE49-F238E27FC236}">
                <a16:creationId xmlns:a16="http://schemas.microsoft.com/office/drawing/2014/main" id="{D4BF69F8-E4A7-659E-DB75-CC0FB47FAE69}"/>
              </a:ext>
            </a:extLst>
          </p:cNvPr>
          <p:cNvCxnSpPr>
            <a:cxnSpLocks/>
            <a:stCxn id="13" idx="3"/>
            <a:endCxn id="15" idx="2"/>
          </p:cNvCxnSpPr>
          <p:nvPr/>
        </p:nvCxnSpPr>
        <p:spPr>
          <a:xfrm flipV="1">
            <a:off x="6671447" y="5406749"/>
            <a:ext cx="1011454" cy="61006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F24CA44D-13F9-5BCE-E6DA-8CF9DDE02984}"/>
              </a:ext>
            </a:extLst>
          </p:cNvPr>
          <p:cNvCxnSpPr>
            <a:cxnSpLocks/>
            <a:stCxn id="11" idx="3"/>
            <a:endCxn id="15" idx="1"/>
          </p:cNvCxnSpPr>
          <p:nvPr/>
        </p:nvCxnSpPr>
        <p:spPr>
          <a:xfrm>
            <a:off x="6671447" y="5126798"/>
            <a:ext cx="443601"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279D455D-D6DD-9822-116C-4773F0717F7E}"/>
              </a:ext>
            </a:extLst>
          </p:cNvPr>
          <p:cNvCxnSpPr>
            <a:cxnSpLocks/>
            <a:stCxn id="15" idx="3"/>
            <a:endCxn id="8" idx="2"/>
          </p:cNvCxnSpPr>
          <p:nvPr/>
        </p:nvCxnSpPr>
        <p:spPr>
          <a:xfrm>
            <a:off x="8250753" y="5126798"/>
            <a:ext cx="383080"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969C78EA-C0C0-CC47-7585-952EF5C46095}"/>
              </a:ext>
            </a:extLst>
          </p:cNvPr>
          <p:cNvSpPr txBox="1"/>
          <p:nvPr/>
        </p:nvSpPr>
        <p:spPr>
          <a:xfrm>
            <a:off x="1135099" y="2346778"/>
            <a:ext cx="627120" cy="246221"/>
          </a:xfrm>
          <a:prstGeom prst="rect">
            <a:avLst/>
          </a:prstGeom>
          <a:noFill/>
        </p:spPr>
        <p:txBody>
          <a:bodyPr wrap="square">
            <a:spAutoFit/>
          </a:bodyPr>
          <a:lstStyle/>
          <a:p>
            <a:pPr algn="ctr"/>
            <a:r>
              <a:rPr lang="es-CL" sz="1000" dirty="0">
                <a:solidFill>
                  <a:schemeClr val="tx1"/>
                </a:solidFill>
                <a:latin typeface="Segoe UI" panose="020B0502040204020203" pitchFamily="34" charset="0"/>
                <a:cs typeface="Segoe UI" panose="020B0502040204020203" pitchFamily="34" charset="0"/>
              </a:rPr>
              <a:t>Start</a:t>
            </a:r>
          </a:p>
        </p:txBody>
      </p:sp>
      <p:sp>
        <p:nvSpPr>
          <p:cNvPr id="25" name="CuadroTexto 24">
            <a:extLst>
              <a:ext uri="{FF2B5EF4-FFF2-40B4-BE49-F238E27FC236}">
                <a16:creationId xmlns:a16="http://schemas.microsoft.com/office/drawing/2014/main" id="{B95F9173-96E1-2FE4-18CB-9E358F3BC7C2}"/>
              </a:ext>
            </a:extLst>
          </p:cNvPr>
          <p:cNvSpPr txBox="1"/>
          <p:nvPr/>
        </p:nvSpPr>
        <p:spPr>
          <a:xfrm>
            <a:off x="8694354" y="4996687"/>
            <a:ext cx="627120" cy="246221"/>
          </a:xfrm>
          <a:prstGeom prst="rect">
            <a:avLst/>
          </a:prstGeom>
          <a:noFill/>
        </p:spPr>
        <p:txBody>
          <a:bodyPr wrap="square">
            <a:spAutoFit/>
          </a:bodyPr>
          <a:lstStyle/>
          <a:p>
            <a:pPr algn="ctr"/>
            <a:r>
              <a:rPr lang="es-CL" sz="1000" dirty="0">
                <a:latin typeface="Segoe UI" panose="020B0502040204020203" pitchFamily="34" charset="0"/>
                <a:cs typeface="Segoe UI" panose="020B0502040204020203" pitchFamily="34" charset="0"/>
              </a:rPr>
              <a:t>End</a:t>
            </a:r>
            <a:endParaRPr lang="es-CL" sz="1000" dirty="0">
              <a:solidFill>
                <a:schemeClr val="tx1"/>
              </a:solidFill>
              <a:latin typeface="Segoe UI" panose="020B0502040204020203" pitchFamily="34" charset="0"/>
              <a:cs typeface="Segoe UI" panose="020B0502040204020203" pitchFamily="34" charset="0"/>
            </a:endParaRPr>
          </a:p>
        </p:txBody>
      </p:sp>
      <p:pic>
        <p:nvPicPr>
          <p:cNvPr id="26" name="Gráfico 25" descr="Usuario con relleno sólido">
            <a:extLst>
              <a:ext uri="{FF2B5EF4-FFF2-40B4-BE49-F238E27FC236}">
                <a16:creationId xmlns:a16="http://schemas.microsoft.com/office/drawing/2014/main" id="{500AAF54-62FB-5254-92AE-65572C244F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28924" y="1543665"/>
            <a:ext cx="396491" cy="396491"/>
          </a:xfrm>
          <a:prstGeom prst="rect">
            <a:avLst/>
          </a:prstGeom>
        </p:spPr>
      </p:pic>
      <p:pic>
        <p:nvPicPr>
          <p:cNvPr id="27" name="Gráfico 26" descr="Usuario con relleno sólido">
            <a:extLst>
              <a:ext uri="{FF2B5EF4-FFF2-40B4-BE49-F238E27FC236}">
                <a16:creationId xmlns:a16="http://schemas.microsoft.com/office/drawing/2014/main" id="{070C4EBA-A192-E19C-FCC1-418AB9652E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87605" y="4553043"/>
            <a:ext cx="283327" cy="283327"/>
          </a:xfrm>
          <a:prstGeom prst="rect">
            <a:avLst/>
          </a:prstGeom>
        </p:spPr>
      </p:pic>
      <p:pic>
        <p:nvPicPr>
          <p:cNvPr id="28" name="Gráfico 27" descr="Usuario con relleno sólido">
            <a:extLst>
              <a:ext uri="{FF2B5EF4-FFF2-40B4-BE49-F238E27FC236}">
                <a16:creationId xmlns:a16="http://schemas.microsoft.com/office/drawing/2014/main" id="{B47393FC-0B9A-25D2-3D4A-162EB1B7A2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85705" y="4553043"/>
            <a:ext cx="283327" cy="283327"/>
          </a:xfrm>
          <a:prstGeom prst="rect">
            <a:avLst/>
          </a:prstGeom>
        </p:spPr>
      </p:pic>
      <p:pic>
        <p:nvPicPr>
          <p:cNvPr id="29" name="Gráfico 28" descr="Usuario con relleno sólido">
            <a:extLst>
              <a:ext uri="{FF2B5EF4-FFF2-40B4-BE49-F238E27FC236}">
                <a16:creationId xmlns:a16="http://schemas.microsoft.com/office/drawing/2014/main" id="{DDF6CA5E-7831-BAE2-4BA8-41BADFE5DE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9783" y="4553042"/>
            <a:ext cx="283327" cy="283327"/>
          </a:xfrm>
          <a:prstGeom prst="rect">
            <a:avLst/>
          </a:prstGeom>
        </p:spPr>
      </p:pic>
      <p:pic>
        <p:nvPicPr>
          <p:cNvPr id="30" name="Gráfico 29" descr="Usuario con relleno sólido">
            <a:extLst>
              <a:ext uri="{FF2B5EF4-FFF2-40B4-BE49-F238E27FC236}">
                <a16:creationId xmlns:a16="http://schemas.microsoft.com/office/drawing/2014/main" id="{F7817F3D-9CA5-09A6-B310-C32DE30286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9782" y="5451048"/>
            <a:ext cx="283327" cy="283327"/>
          </a:xfrm>
          <a:prstGeom prst="rect">
            <a:avLst/>
          </a:prstGeom>
        </p:spPr>
      </p:pic>
      <p:pic>
        <p:nvPicPr>
          <p:cNvPr id="31" name="Gráfico 30" descr="Usuario con relleno sólido">
            <a:extLst>
              <a:ext uri="{FF2B5EF4-FFF2-40B4-BE49-F238E27FC236}">
                <a16:creationId xmlns:a16="http://schemas.microsoft.com/office/drawing/2014/main" id="{3E1CAB28-DDCA-4F46-4560-EFB499F634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42088" y="4553041"/>
            <a:ext cx="283327" cy="283327"/>
          </a:xfrm>
          <a:prstGeom prst="rect">
            <a:avLst/>
          </a:prstGeom>
        </p:spPr>
      </p:pic>
      <p:sp>
        <p:nvSpPr>
          <p:cNvPr id="32" name="CuadroTexto 31">
            <a:extLst>
              <a:ext uri="{FF2B5EF4-FFF2-40B4-BE49-F238E27FC236}">
                <a16:creationId xmlns:a16="http://schemas.microsoft.com/office/drawing/2014/main" id="{850FD7A8-37E5-BE09-D376-585255E28BE5}"/>
              </a:ext>
            </a:extLst>
          </p:cNvPr>
          <p:cNvSpPr txBox="1"/>
          <p:nvPr/>
        </p:nvSpPr>
        <p:spPr>
          <a:xfrm>
            <a:off x="8332628" y="1595716"/>
            <a:ext cx="877824" cy="292388"/>
          </a:xfrm>
          <a:prstGeom prst="rect">
            <a:avLst/>
          </a:prstGeom>
          <a:noFill/>
        </p:spPr>
        <p:txBody>
          <a:bodyPr wrap="square">
            <a:spAutoFit/>
          </a:bodyPr>
          <a:lstStyle/>
          <a:p>
            <a:pPr algn="ctr"/>
            <a:r>
              <a:rPr lang="es-CL" sz="1300" dirty="0">
                <a:latin typeface="Segoe UI" panose="020B0502040204020203" pitchFamily="34" charset="0"/>
                <a:cs typeface="Segoe UI" panose="020B0502040204020203" pitchFamily="34" charset="0"/>
              </a:rPr>
              <a:t>Users</a:t>
            </a:r>
            <a:endParaRPr lang="es-CL" sz="1300" dirty="0">
              <a:solidFill>
                <a:schemeClr val="tx1"/>
              </a:solidFill>
              <a:latin typeface="Segoe UI" panose="020B0502040204020203" pitchFamily="34" charset="0"/>
              <a:cs typeface="Segoe UI" panose="020B0502040204020203" pitchFamily="34" charset="0"/>
            </a:endParaRPr>
          </a:p>
        </p:txBody>
      </p:sp>
      <p:sp>
        <p:nvSpPr>
          <p:cNvPr id="33" name="Rectángulo 32">
            <a:extLst>
              <a:ext uri="{FF2B5EF4-FFF2-40B4-BE49-F238E27FC236}">
                <a16:creationId xmlns:a16="http://schemas.microsoft.com/office/drawing/2014/main" id="{A45A5F7E-B871-1D74-7934-05AC93F4FF30}"/>
              </a:ext>
            </a:extLst>
          </p:cNvPr>
          <p:cNvSpPr/>
          <p:nvPr/>
        </p:nvSpPr>
        <p:spPr>
          <a:xfrm>
            <a:off x="408996" y="1462111"/>
            <a:ext cx="8836605" cy="49844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4" name="Rectángulo 33">
            <a:extLst>
              <a:ext uri="{FF2B5EF4-FFF2-40B4-BE49-F238E27FC236}">
                <a16:creationId xmlns:a16="http://schemas.microsoft.com/office/drawing/2014/main" id="{78D5903D-3CBA-3A03-A218-4585F7FE711B}"/>
              </a:ext>
            </a:extLst>
          </p:cNvPr>
          <p:cNvSpPr/>
          <p:nvPr/>
        </p:nvSpPr>
        <p:spPr>
          <a:xfrm>
            <a:off x="829424" y="1462111"/>
            <a:ext cx="8416178" cy="498447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4764062F-E74C-381F-4C32-838FB84CA6F3}"/>
              </a:ext>
            </a:extLst>
          </p:cNvPr>
          <p:cNvSpPr/>
          <p:nvPr/>
        </p:nvSpPr>
        <p:spPr>
          <a:xfrm>
            <a:off x="1060750" y="1462112"/>
            <a:ext cx="8184851" cy="49844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6" name="Rectángulo 35">
            <a:extLst>
              <a:ext uri="{FF2B5EF4-FFF2-40B4-BE49-F238E27FC236}">
                <a16:creationId xmlns:a16="http://schemas.microsoft.com/office/drawing/2014/main" id="{EFDF32A1-0D90-7AD1-0850-D9959CF0DEF8}"/>
              </a:ext>
            </a:extLst>
          </p:cNvPr>
          <p:cNvSpPr/>
          <p:nvPr/>
        </p:nvSpPr>
        <p:spPr>
          <a:xfrm>
            <a:off x="829423" y="1462111"/>
            <a:ext cx="8416178" cy="2896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7" name="CuadroTexto 36">
            <a:extLst>
              <a:ext uri="{FF2B5EF4-FFF2-40B4-BE49-F238E27FC236}">
                <a16:creationId xmlns:a16="http://schemas.microsoft.com/office/drawing/2014/main" id="{B782A32E-3718-B5EC-3EAF-FDBD836AA338}"/>
              </a:ext>
            </a:extLst>
          </p:cNvPr>
          <p:cNvSpPr txBox="1"/>
          <p:nvPr/>
        </p:nvSpPr>
        <p:spPr>
          <a:xfrm rot="16200000">
            <a:off x="-1727420" y="3943228"/>
            <a:ext cx="4710411" cy="307777"/>
          </a:xfrm>
          <a:prstGeom prst="rect">
            <a:avLst/>
          </a:prstGeom>
          <a:noFill/>
        </p:spPr>
        <p:txBody>
          <a:bodyPr wrap="square">
            <a:spAutoFit/>
          </a:bodyPr>
          <a:lstStyle/>
          <a:p>
            <a:pPr algn="ctr"/>
            <a:r>
              <a:rPr lang="en-US" sz="1400" dirty="0">
                <a:latin typeface="Segoe UI" panose="020B0502040204020203" pitchFamily="34" charset="0"/>
                <a:ea typeface="Ebrima" panose="02000000000000000000" pitchFamily="2" charset="0"/>
                <a:cs typeface="Segoe UI" panose="020B0502040204020203" pitchFamily="34" charset="0"/>
              </a:rPr>
              <a:t>Marketing Leads</a:t>
            </a:r>
            <a:endParaRPr lang="es-CL" sz="1400" dirty="0">
              <a:solidFill>
                <a:schemeClr val="tx1"/>
              </a:solidFill>
              <a:latin typeface="Segoe UI" panose="020B0502040204020203" pitchFamily="34" charset="0"/>
              <a:ea typeface="Ebrima" panose="02000000000000000000" pitchFamily="2" charset="0"/>
              <a:cs typeface="Segoe UI" panose="020B0502040204020203" pitchFamily="34" charset="0"/>
            </a:endParaRPr>
          </a:p>
        </p:txBody>
      </p:sp>
      <p:sp>
        <p:nvSpPr>
          <p:cNvPr id="38" name="CuadroTexto 37">
            <a:extLst>
              <a:ext uri="{FF2B5EF4-FFF2-40B4-BE49-F238E27FC236}">
                <a16:creationId xmlns:a16="http://schemas.microsoft.com/office/drawing/2014/main" id="{7321D1E6-A60B-CA50-0587-61140DC6F0F4}"/>
              </a:ext>
            </a:extLst>
          </p:cNvPr>
          <p:cNvSpPr txBox="1"/>
          <p:nvPr/>
        </p:nvSpPr>
        <p:spPr>
          <a:xfrm rot="16200000">
            <a:off x="-348892" y="5121631"/>
            <a:ext cx="2596179" cy="261610"/>
          </a:xfrm>
          <a:prstGeom prst="rect">
            <a:avLst/>
          </a:prstGeom>
          <a:noFill/>
        </p:spPr>
        <p:txBody>
          <a:bodyPr wrap="square">
            <a:spAutoFit/>
          </a:bodyPr>
          <a:lstStyle/>
          <a:p>
            <a:pPr algn="ctr"/>
            <a:r>
              <a:rPr lang="en-US" sz="1100" dirty="0">
                <a:solidFill>
                  <a:schemeClr val="tx1"/>
                </a:solidFill>
                <a:latin typeface="Segoe UI" panose="020B0502040204020203" pitchFamily="34" charset="0"/>
                <a:ea typeface="Ebrima" panose="02000000000000000000" pitchFamily="2" charset="0"/>
                <a:cs typeface="Segoe UI" panose="020B0502040204020203" pitchFamily="34" charset="0"/>
              </a:rPr>
              <a:t>Marketing Department</a:t>
            </a:r>
            <a:endParaRPr lang="es-CL" sz="1100" dirty="0">
              <a:solidFill>
                <a:schemeClr val="tx1"/>
              </a:solidFill>
              <a:latin typeface="Segoe UI" panose="020B0502040204020203" pitchFamily="34" charset="0"/>
              <a:ea typeface="Ebrima" panose="02000000000000000000" pitchFamily="2" charset="0"/>
              <a:cs typeface="Segoe UI" panose="020B0502040204020203" pitchFamily="34" charset="0"/>
            </a:endParaRPr>
          </a:p>
        </p:txBody>
      </p:sp>
      <p:sp>
        <p:nvSpPr>
          <p:cNvPr id="39" name="CuadroTexto 38">
            <a:extLst>
              <a:ext uri="{FF2B5EF4-FFF2-40B4-BE49-F238E27FC236}">
                <a16:creationId xmlns:a16="http://schemas.microsoft.com/office/drawing/2014/main" id="{C8441E32-CAFD-631D-FFE1-BD07DDA6EAA8}"/>
              </a:ext>
            </a:extLst>
          </p:cNvPr>
          <p:cNvSpPr txBox="1"/>
          <p:nvPr/>
        </p:nvSpPr>
        <p:spPr>
          <a:xfrm rot="16200000">
            <a:off x="-560297" y="2801600"/>
            <a:ext cx="3038072" cy="261610"/>
          </a:xfrm>
          <a:prstGeom prst="rect">
            <a:avLst/>
          </a:prstGeom>
          <a:noFill/>
        </p:spPr>
        <p:txBody>
          <a:bodyPr wrap="square">
            <a:spAutoFit/>
          </a:bodyPr>
          <a:lstStyle/>
          <a:p>
            <a:pPr algn="ctr"/>
            <a:r>
              <a:rPr lang="es-CL" sz="1100" noProof="0" dirty="0">
                <a:latin typeface="Segoe UI" panose="020B0502040204020203" pitchFamily="34" charset="0"/>
                <a:ea typeface="Ebrima" panose="02000000000000000000" pitchFamily="2" charset="0"/>
                <a:cs typeface="Segoe UI" panose="020B0502040204020203" pitchFamily="34" charset="0"/>
              </a:rPr>
              <a:t>Branches, Call Center and Other Channels</a:t>
            </a:r>
            <a:endParaRPr lang="es-CL" sz="1100" noProof="0" dirty="0">
              <a:solidFill>
                <a:schemeClr val="tx1"/>
              </a:solidFill>
              <a:latin typeface="Segoe UI" panose="020B0502040204020203" pitchFamily="34" charset="0"/>
              <a:ea typeface="Ebrima" panose="02000000000000000000" pitchFamily="2" charset="0"/>
              <a:cs typeface="Segoe UI" panose="020B0502040204020203" pitchFamily="34" charset="0"/>
            </a:endParaRPr>
          </a:p>
        </p:txBody>
      </p:sp>
      <p:sp>
        <p:nvSpPr>
          <p:cNvPr id="40" name="Rectángulo: esquinas redondeadas 39">
            <a:extLst>
              <a:ext uri="{FF2B5EF4-FFF2-40B4-BE49-F238E27FC236}">
                <a16:creationId xmlns:a16="http://schemas.microsoft.com/office/drawing/2014/main" id="{DE9C66E7-D749-5064-5544-F6E8B80C5E09}"/>
              </a:ext>
            </a:extLst>
          </p:cNvPr>
          <p:cNvSpPr/>
          <p:nvPr/>
        </p:nvSpPr>
        <p:spPr>
          <a:xfrm>
            <a:off x="2019752" y="2427538"/>
            <a:ext cx="1135705" cy="559902"/>
          </a:xfrm>
          <a:prstGeom prst="roundRect">
            <a:avLst/>
          </a:prstGeom>
          <a:solidFill>
            <a:schemeClr val="tx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bg1"/>
                </a:solidFill>
                <a:latin typeface="Segoe UI" panose="020B0502040204020203" pitchFamily="34" charset="0"/>
                <a:cs typeface="Segoe UI" panose="020B0502040204020203" pitchFamily="34" charset="0"/>
              </a:rPr>
              <a:t>Collecting Comments and Interest</a:t>
            </a:r>
          </a:p>
        </p:txBody>
      </p:sp>
      <p:cxnSp>
        <p:nvCxnSpPr>
          <p:cNvPr id="41" name="Conector recto de flecha 40">
            <a:extLst>
              <a:ext uri="{FF2B5EF4-FFF2-40B4-BE49-F238E27FC236}">
                <a16:creationId xmlns:a16="http://schemas.microsoft.com/office/drawing/2014/main" id="{36949280-B895-2C11-8542-ADBCF70A82ED}"/>
              </a:ext>
            </a:extLst>
          </p:cNvPr>
          <p:cNvCxnSpPr>
            <a:cxnSpLocks/>
            <a:stCxn id="7" idx="6"/>
            <a:endCxn id="40" idx="1"/>
          </p:cNvCxnSpPr>
          <p:nvPr/>
        </p:nvCxnSpPr>
        <p:spPr>
          <a:xfrm>
            <a:off x="1539883" y="2707489"/>
            <a:ext cx="479869"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2" name="Gráfico 41" descr="Usuario con relleno sólido">
            <a:extLst>
              <a:ext uri="{FF2B5EF4-FFF2-40B4-BE49-F238E27FC236}">
                <a16:creationId xmlns:a16="http://schemas.microsoft.com/office/drawing/2014/main" id="{B176D96F-FEF7-0E40-B686-099EA7F602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5457" y="2138972"/>
            <a:ext cx="283327" cy="283327"/>
          </a:xfrm>
          <a:prstGeom prst="rect">
            <a:avLst/>
          </a:prstGeom>
        </p:spPr>
      </p:pic>
      <p:sp>
        <p:nvSpPr>
          <p:cNvPr id="43" name="Rectángulo: esquinas redondeadas 42">
            <a:extLst>
              <a:ext uri="{FF2B5EF4-FFF2-40B4-BE49-F238E27FC236}">
                <a16:creationId xmlns:a16="http://schemas.microsoft.com/office/drawing/2014/main" id="{51D3BD12-0D35-89AB-2D1A-923ADD7516CD}"/>
              </a:ext>
            </a:extLst>
          </p:cNvPr>
          <p:cNvSpPr/>
          <p:nvPr/>
        </p:nvSpPr>
        <p:spPr>
          <a:xfrm>
            <a:off x="3686001" y="2427138"/>
            <a:ext cx="1135705" cy="559902"/>
          </a:xfrm>
          <a:prstGeom prst="roundRect">
            <a:avLst/>
          </a:prstGeom>
          <a:solidFill>
            <a:schemeClr val="tx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latin typeface="Segoe UI" panose="020B0502040204020203" pitchFamily="34" charset="0"/>
                <a:cs typeface="Segoe UI" panose="020B0502040204020203" pitchFamily="34" charset="0"/>
              </a:rPr>
              <a:t>Send email</a:t>
            </a:r>
            <a:endParaRPr lang="en-US" sz="1000" noProof="0" dirty="0">
              <a:solidFill>
                <a:schemeClr val="bg1"/>
              </a:solidFill>
              <a:latin typeface="Segoe UI" panose="020B0502040204020203" pitchFamily="34" charset="0"/>
              <a:cs typeface="Segoe UI" panose="020B0502040204020203" pitchFamily="34" charset="0"/>
            </a:endParaRPr>
          </a:p>
        </p:txBody>
      </p:sp>
      <p:cxnSp>
        <p:nvCxnSpPr>
          <p:cNvPr id="44" name="Conector recto de flecha 43">
            <a:extLst>
              <a:ext uri="{FF2B5EF4-FFF2-40B4-BE49-F238E27FC236}">
                <a16:creationId xmlns:a16="http://schemas.microsoft.com/office/drawing/2014/main" id="{35508180-071B-7006-3BF5-69DC07C5030E}"/>
              </a:ext>
            </a:extLst>
          </p:cNvPr>
          <p:cNvCxnSpPr>
            <a:cxnSpLocks/>
            <a:stCxn id="40" idx="3"/>
            <a:endCxn id="43" idx="1"/>
          </p:cNvCxnSpPr>
          <p:nvPr/>
        </p:nvCxnSpPr>
        <p:spPr>
          <a:xfrm flipV="1">
            <a:off x="3155457" y="2707089"/>
            <a:ext cx="530544" cy="40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5" name="Gráfico 44" descr="Usuario con relleno sólido">
            <a:extLst>
              <a:ext uri="{FF2B5EF4-FFF2-40B4-BE49-F238E27FC236}">
                <a16:creationId xmlns:a16="http://schemas.microsoft.com/office/drawing/2014/main" id="{99FBDEB7-7DDA-4F3A-926C-3ED1312904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8169" y="2145276"/>
            <a:ext cx="283327" cy="283327"/>
          </a:xfrm>
          <a:prstGeom prst="rect">
            <a:avLst/>
          </a:prstGeom>
        </p:spPr>
      </p:pic>
      <p:sp>
        <p:nvSpPr>
          <p:cNvPr id="46" name="CuadroTexto 45">
            <a:extLst>
              <a:ext uri="{FF2B5EF4-FFF2-40B4-BE49-F238E27FC236}">
                <a16:creationId xmlns:a16="http://schemas.microsoft.com/office/drawing/2014/main" id="{242614A6-551C-5AD8-CD6F-BD4B1F600B2D}"/>
              </a:ext>
            </a:extLst>
          </p:cNvPr>
          <p:cNvSpPr txBox="1"/>
          <p:nvPr/>
        </p:nvSpPr>
        <p:spPr>
          <a:xfrm>
            <a:off x="4875030" y="4888965"/>
            <a:ext cx="877824" cy="215444"/>
          </a:xfrm>
          <a:prstGeom prst="rect">
            <a:avLst/>
          </a:prstGeom>
          <a:noFill/>
        </p:spPr>
        <p:txBody>
          <a:bodyPr wrap="square">
            <a:spAutoFit/>
          </a:bodyPr>
          <a:lstStyle/>
          <a:p>
            <a:pPr algn="ctr"/>
            <a:r>
              <a:rPr lang="es-CL" sz="800" dirty="0">
                <a:latin typeface="Segoe UI" panose="020B0502040204020203" pitchFamily="34" charset="0"/>
                <a:cs typeface="Segoe UI" panose="020B0502040204020203" pitchFamily="34" charset="0"/>
              </a:rPr>
              <a:t>Yes</a:t>
            </a:r>
            <a:endParaRPr lang="es-CL" sz="800" dirty="0">
              <a:solidFill>
                <a:schemeClr val="tx1"/>
              </a:solidFill>
              <a:latin typeface="Segoe UI" panose="020B0502040204020203" pitchFamily="34" charset="0"/>
              <a:cs typeface="Segoe UI" panose="020B0502040204020203" pitchFamily="34" charset="0"/>
            </a:endParaRPr>
          </a:p>
        </p:txBody>
      </p:sp>
      <p:sp>
        <p:nvSpPr>
          <p:cNvPr id="47" name="CuadroTexto 46">
            <a:extLst>
              <a:ext uri="{FF2B5EF4-FFF2-40B4-BE49-F238E27FC236}">
                <a16:creationId xmlns:a16="http://schemas.microsoft.com/office/drawing/2014/main" id="{2D8B8479-BCCA-CAAF-EE30-98011463BF02}"/>
              </a:ext>
            </a:extLst>
          </p:cNvPr>
          <p:cNvSpPr txBox="1"/>
          <p:nvPr/>
        </p:nvSpPr>
        <p:spPr>
          <a:xfrm>
            <a:off x="4340186" y="5593510"/>
            <a:ext cx="877824" cy="215444"/>
          </a:xfrm>
          <a:prstGeom prst="rect">
            <a:avLst/>
          </a:prstGeom>
          <a:noFill/>
        </p:spPr>
        <p:txBody>
          <a:bodyPr wrap="square">
            <a:spAutoFit/>
          </a:bodyPr>
          <a:lstStyle/>
          <a:p>
            <a:pPr algn="ctr"/>
            <a:r>
              <a:rPr lang="es-ES" sz="800" dirty="0">
                <a:latin typeface="Segoe UI" panose="020B0502040204020203" pitchFamily="34" charset="0"/>
                <a:cs typeface="Segoe UI" panose="020B0502040204020203" pitchFamily="34" charset="0"/>
              </a:rPr>
              <a:t>No</a:t>
            </a:r>
            <a:endParaRPr lang="es-CL" sz="800" dirty="0">
              <a:solidFill>
                <a:schemeClr val="tx1"/>
              </a:solidFill>
              <a:latin typeface="Segoe UI" panose="020B0502040204020203" pitchFamily="34" charset="0"/>
              <a:cs typeface="Segoe UI" panose="020B0502040204020203" pitchFamily="34" charset="0"/>
            </a:endParaRPr>
          </a:p>
        </p:txBody>
      </p:sp>
      <p:sp>
        <p:nvSpPr>
          <p:cNvPr id="52" name="Rectángulo 51">
            <a:extLst>
              <a:ext uri="{FF2B5EF4-FFF2-40B4-BE49-F238E27FC236}">
                <a16:creationId xmlns:a16="http://schemas.microsoft.com/office/drawing/2014/main" id="{64E7B341-E2AB-F102-F5FE-8C63859431D5}"/>
              </a:ext>
            </a:extLst>
          </p:cNvPr>
          <p:cNvSpPr/>
          <p:nvPr/>
        </p:nvSpPr>
        <p:spPr>
          <a:xfrm>
            <a:off x="1864251" y="2007669"/>
            <a:ext cx="1667320" cy="1162250"/>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uadroTexto 55">
            <a:extLst>
              <a:ext uri="{FF2B5EF4-FFF2-40B4-BE49-F238E27FC236}">
                <a16:creationId xmlns:a16="http://schemas.microsoft.com/office/drawing/2014/main" id="{986FA134-570F-84A7-6A92-7E8A68CD6630}"/>
              </a:ext>
            </a:extLst>
          </p:cNvPr>
          <p:cNvSpPr txBox="1"/>
          <p:nvPr/>
        </p:nvSpPr>
        <p:spPr>
          <a:xfrm>
            <a:off x="9344133" y="2179612"/>
            <a:ext cx="2708451" cy="553998"/>
          </a:xfrm>
          <a:prstGeom prst="rect">
            <a:avLst/>
          </a:prstGeom>
          <a:noFill/>
        </p:spPr>
        <p:txBody>
          <a:bodyPr wrap="square">
            <a:spAutoFit/>
          </a:bodyPr>
          <a:lstStyle/>
          <a:p>
            <a:r>
              <a:rPr lang="en-US" sz="1500" dirty="0">
                <a:latin typeface="Segoe UI" panose="020B0502040204020203" pitchFamily="34" charset="0"/>
                <a:cs typeface="Segoe UI" panose="020B0502040204020203" pitchFamily="34" charset="0"/>
              </a:rPr>
              <a:t>📋 Lack of standardization in data collection</a:t>
            </a:r>
          </a:p>
        </p:txBody>
      </p:sp>
      <p:sp>
        <p:nvSpPr>
          <p:cNvPr id="58" name="CuadroTexto 57">
            <a:extLst>
              <a:ext uri="{FF2B5EF4-FFF2-40B4-BE49-F238E27FC236}">
                <a16:creationId xmlns:a16="http://schemas.microsoft.com/office/drawing/2014/main" id="{AF850C7A-3588-6675-57D8-29B3807612E1}"/>
              </a:ext>
            </a:extLst>
          </p:cNvPr>
          <p:cNvSpPr txBox="1"/>
          <p:nvPr/>
        </p:nvSpPr>
        <p:spPr>
          <a:xfrm>
            <a:off x="9344133" y="2833462"/>
            <a:ext cx="2582250" cy="553998"/>
          </a:xfrm>
          <a:prstGeom prst="rect">
            <a:avLst/>
          </a:prstGeom>
          <a:noFill/>
        </p:spPr>
        <p:txBody>
          <a:bodyPr wrap="square">
            <a:spAutoFit/>
          </a:bodyPr>
          <a:lstStyle/>
          <a:p>
            <a:r>
              <a:rPr lang="en-US" sz="1500" dirty="0">
                <a:latin typeface="Segoe UI" panose="020B0502040204020203" pitchFamily="34" charset="0"/>
                <a:cs typeface="Segoe UI" panose="020B0502040204020203" pitchFamily="34" charset="0"/>
              </a:rPr>
              <a:t>🛠️ Manual and inefficient process</a:t>
            </a:r>
          </a:p>
        </p:txBody>
      </p:sp>
      <p:sp>
        <p:nvSpPr>
          <p:cNvPr id="59" name="Rectángulo 58">
            <a:extLst>
              <a:ext uri="{FF2B5EF4-FFF2-40B4-BE49-F238E27FC236}">
                <a16:creationId xmlns:a16="http://schemas.microsoft.com/office/drawing/2014/main" id="{8374F350-E568-41E9-1922-B5562240EF33}"/>
              </a:ext>
            </a:extLst>
          </p:cNvPr>
          <p:cNvSpPr/>
          <p:nvPr/>
        </p:nvSpPr>
        <p:spPr>
          <a:xfrm>
            <a:off x="4794912" y="2145296"/>
            <a:ext cx="364336" cy="305695"/>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ángulo 59">
            <a:extLst>
              <a:ext uri="{FF2B5EF4-FFF2-40B4-BE49-F238E27FC236}">
                <a16:creationId xmlns:a16="http://schemas.microsoft.com/office/drawing/2014/main" id="{BBEA1A23-9C9A-4F2E-4181-677EDC95F117}"/>
              </a:ext>
            </a:extLst>
          </p:cNvPr>
          <p:cNvSpPr/>
          <p:nvPr/>
        </p:nvSpPr>
        <p:spPr>
          <a:xfrm>
            <a:off x="3113184" y="2127787"/>
            <a:ext cx="364336" cy="305695"/>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ángulo 60">
            <a:extLst>
              <a:ext uri="{FF2B5EF4-FFF2-40B4-BE49-F238E27FC236}">
                <a16:creationId xmlns:a16="http://schemas.microsoft.com/office/drawing/2014/main" id="{3D4C1B93-F4B1-3878-2542-D68A06AB8AF5}"/>
              </a:ext>
            </a:extLst>
          </p:cNvPr>
          <p:cNvSpPr/>
          <p:nvPr/>
        </p:nvSpPr>
        <p:spPr>
          <a:xfrm>
            <a:off x="2558026" y="4523042"/>
            <a:ext cx="364336" cy="305695"/>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ángulo 61">
            <a:extLst>
              <a:ext uri="{FF2B5EF4-FFF2-40B4-BE49-F238E27FC236}">
                <a16:creationId xmlns:a16="http://schemas.microsoft.com/office/drawing/2014/main" id="{17E283C9-E666-ED1F-DEAA-C7F2962A2984}"/>
              </a:ext>
            </a:extLst>
          </p:cNvPr>
          <p:cNvSpPr/>
          <p:nvPr/>
        </p:nvSpPr>
        <p:spPr>
          <a:xfrm>
            <a:off x="4170457" y="4523041"/>
            <a:ext cx="364336" cy="305695"/>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ángulo 62">
            <a:extLst>
              <a:ext uri="{FF2B5EF4-FFF2-40B4-BE49-F238E27FC236}">
                <a16:creationId xmlns:a16="http://schemas.microsoft.com/office/drawing/2014/main" id="{F4B95924-7D7B-B9A2-599F-C37E24726AF4}"/>
              </a:ext>
            </a:extLst>
          </p:cNvPr>
          <p:cNvSpPr/>
          <p:nvPr/>
        </p:nvSpPr>
        <p:spPr>
          <a:xfrm>
            <a:off x="6493875" y="4530673"/>
            <a:ext cx="364336" cy="305695"/>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ángulo 63">
            <a:extLst>
              <a:ext uri="{FF2B5EF4-FFF2-40B4-BE49-F238E27FC236}">
                <a16:creationId xmlns:a16="http://schemas.microsoft.com/office/drawing/2014/main" id="{BC7D5845-CE4D-B07E-2C77-7BAE28CB8968}"/>
              </a:ext>
            </a:extLst>
          </p:cNvPr>
          <p:cNvSpPr/>
          <p:nvPr/>
        </p:nvSpPr>
        <p:spPr>
          <a:xfrm>
            <a:off x="8101583" y="4523040"/>
            <a:ext cx="364336" cy="305695"/>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ángulo 64">
            <a:extLst>
              <a:ext uri="{FF2B5EF4-FFF2-40B4-BE49-F238E27FC236}">
                <a16:creationId xmlns:a16="http://schemas.microsoft.com/office/drawing/2014/main" id="{3D9E489D-EC35-0CFF-6CFE-E085EE16E403}"/>
              </a:ext>
            </a:extLst>
          </p:cNvPr>
          <p:cNvSpPr/>
          <p:nvPr/>
        </p:nvSpPr>
        <p:spPr>
          <a:xfrm>
            <a:off x="6493875" y="5419142"/>
            <a:ext cx="364336" cy="305695"/>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CuadroTexto 66">
            <a:extLst>
              <a:ext uri="{FF2B5EF4-FFF2-40B4-BE49-F238E27FC236}">
                <a16:creationId xmlns:a16="http://schemas.microsoft.com/office/drawing/2014/main" id="{118D7953-85CC-1338-D419-194D0AB01E02}"/>
              </a:ext>
            </a:extLst>
          </p:cNvPr>
          <p:cNvSpPr txBox="1"/>
          <p:nvPr/>
        </p:nvSpPr>
        <p:spPr>
          <a:xfrm>
            <a:off x="9344133" y="3475192"/>
            <a:ext cx="2582250" cy="553998"/>
          </a:xfrm>
          <a:prstGeom prst="rect">
            <a:avLst/>
          </a:prstGeom>
          <a:noFill/>
        </p:spPr>
        <p:txBody>
          <a:bodyPr wrap="square">
            <a:spAutoFit/>
          </a:bodyPr>
          <a:lstStyle/>
          <a:p>
            <a:r>
              <a:rPr lang="en-US" sz="1500" dirty="0">
                <a:latin typeface="Segoe UI" panose="020B0502040204020203" pitchFamily="34" charset="0"/>
                <a:cs typeface="Segoe UI" panose="020B0502040204020203" pitchFamily="34" charset="0"/>
              </a:rPr>
              <a:t>❗ Incomplete or inconsistent information</a:t>
            </a:r>
          </a:p>
        </p:txBody>
      </p:sp>
      <p:sp>
        <p:nvSpPr>
          <p:cNvPr id="68" name="Rectángulo 67">
            <a:extLst>
              <a:ext uri="{FF2B5EF4-FFF2-40B4-BE49-F238E27FC236}">
                <a16:creationId xmlns:a16="http://schemas.microsoft.com/office/drawing/2014/main" id="{0294FBD6-5D76-D264-9290-B57688574D52}"/>
              </a:ext>
            </a:extLst>
          </p:cNvPr>
          <p:cNvSpPr/>
          <p:nvPr/>
        </p:nvSpPr>
        <p:spPr>
          <a:xfrm>
            <a:off x="1740447" y="1903542"/>
            <a:ext cx="1887801" cy="1412493"/>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ángulo 68">
            <a:extLst>
              <a:ext uri="{FF2B5EF4-FFF2-40B4-BE49-F238E27FC236}">
                <a16:creationId xmlns:a16="http://schemas.microsoft.com/office/drawing/2014/main" id="{9DEA7906-73D4-DA88-FB34-8CBEFCFFC413}"/>
              </a:ext>
            </a:extLst>
          </p:cNvPr>
          <p:cNvSpPr/>
          <p:nvPr/>
        </p:nvSpPr>
        <p:spPr>
          <a:xfrm>
            <a:off x="3031929" y="4463186"/>
            <a:ext cx="5526032" cy="1020313"/>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CuadroTexto 70">
            <a:extLst>
              <a:ext uri="{FF2B5EF4-FFF2-40B4-BE49-F238E27FC236}">
                <a16:creationId xmlns:a16="http://schemas.microsoft.com/office/drawing/2014/main" id="{D853AF56-BAA4-21D7-ADE3-DCB30FEC0E05}"/>
              </a:ext>
            </a:extLst>
          </p:cNvPr>
          <p:cNvSpPr txBox="1"/>
          <p:nvPr/>
        </p:nvSpPr>
        <p:spPr>
          <a:xfrm>
            <a:off x="9344133" y="4157981"/>
            <a:ext cx="2519559" cy="323165"/>
          </a:xfrm>
          <a:prstGeom prst="rect">
            <a:avLst/>
          </a:prstGeom>
          <a:noFill/>
        </p:spPr>
        <p:txBody>
          <a:bodyPr wrap="square">
            <a:spAutoFit/>
          </a:bodyPr>
          <a:lstStyle/>
          <a:p>
            <a:r>
              <a:rPr lang="en-US" sz="1500" dirty="0">
                <a:latin typeface="Segoe UI" panose="020B0502040204020203" pitchFamily="34" charset="0"/>
                <a:cs typeface="Segoe UI" panose="020B0502040204020203" pitchFamily="34" charset="0"/>
              </a:rPr>
              <a:t>📉 Low process maturity</a:t>
            </a:r>
          </a:p>
        </p:txBody>
      </p:sp>
      <p:sp>
        <p:nvSpPr>
          <p:cNvPr id="75" name="CuadroTexto 74">
            <a:extLst>
              <a:ext uri="{FF2B5EF4-FFF2-40B4-BE49-F238E27FC236}">
                <a16:creationId xmlns:a16="http://schemas.microsoft.com/office/drawing/2014/main" id="{682B61ED-5A35-CDEA-DA17-55638879CCBA}"/>
              </a:ext>
            </a:extLst>
          </p:cNvPr>
          <p:cNvSpPr txBox="1"/>
          <p:nvPr/>
        </p:nvSpPr>
        <p:spPr>
          <a:xfrm>
            <a:off x="9344134" y="5387334"/>
            <a:ext cx="2708450" cy="553998"/>
          </a:xfrm>
          <a:prstGeom prst="rect">
            <a:avLst/>
          </a:prstGeom>
          <a:noFill/>
        </p:spPr>
        <p:txBody>
          <a:bodyPr wrap="square">
            <a:spAutoFit/>
          </a:bodyPr>
          <a:lstStyle/>
          <a:p>
            <a:r>
              <a:rPr lang="en-US" sz="1500" dirty="0">
                <a:latin typeface="Segoe UI" panose="020B0502040204020203" pitchFamily="34" charset="0"/>
                <a:cs typeface="Segoe UI" panose="020B0502040204020203" pitchFamily="34" charset="0"/>
              </a:rPr>
              <a:t>🔍 No traceability or follow-up actions</a:t>
            </a:r>
          </a:p>
        </p:txBody>
      </p:sp>
      <p:sp>
        <p:nvSpPr>
          <p:cNvPr id="77" name="CuadroTexto 76">
            <a:extLst>
              <a:ext uri="{FF2B5EF4-FFF2-40B4-BE49-F238E27FC236}">
                <a16:creationId xmlns:a16="http://schemas.microsoft.com/office/drawing/2014/main" id="{E05D3E1A-74B7-5119-6BA2-65E9ABCBF997}"/>
              </a:ext>
            </a:extLst>
          </p:cNvPr>
          <p:cNvSpPr txBox="1"/>
          <p:nvPr/>
        </p:nvSpPr>
        <p:spPr>
          <a:xfrm>
            <a:off x="9344133" y="4652233"/>
            <a:ext cx="2720643" cy="553998"/>
          </a:xfrm>
          <a:prstGeom prst="rect">
            <a:avLst/>
          </a:prstGeom>
          <a:noFill/>
        </p:spPr>
        <p:txBody>
          <a:bodyPr wrap="square">
            <a:spAutoFit/>
          </a:bodyPr>
          <a:lstStyle/>
          <a:p>
            <a:r>
              <a:rPr lang="en-US" sz="1500" dirty="0">
                <a:latin typeface="Segoe UI" panose="020B0502040204020203" pitchFamily="34" charset="0"/>
                <a:cs typeface="Segoe UI" panose="020B0502040204020203" pitchFamily="34" charset="0"/>
              </a:rPr>
              <a:t>🚫 Missing business rules, priorities, and alerts</a:t>
            </a:r>
          </a:p>
        </p:txBody>
      </p:sp>
      <p:grpSp>
        <p:nvGrpSpPr>
          <p:cNvPr id="78" name="Grupo 77">
            <a:extLst>
              <a:ext uri="{FF2B5EF4-FFF2-40B4-BE49-F238E27FC236}">
                <a16:creationId xmlns:a16="http://schemas.microsoft.com/office/drawing/2014/main" id="{F4D346A2-9018-765E-FCFC-696E1B2D5135}"/>
              </a:ext>
            </a:extLst>
          </p:cNvPr>
          <p:cNvGrpSpPr/>
          <p:nvPr/>
        </p:nvGrpSpPr>
        <p:grpSpPr>
          <a:xfrm>
            <a:off x="6114680" y="2449900"/>
            <a:ext cx="3130921" cy="1169551"/>
            <a:chOff x="6987796" y="1691901"/>
            <a:chExt cx="3130921" cy="1169551"/>
          </a:xfrm>
        </p:grpSpPr>
        <p:sp>
          <p:nvSpPr>
            <p:cNvPr id="79" name="CuadroTexto 78">
              <a:extLst>
                <a:ext uri="{FF2B5EF4-FFF2-40B4-BE49-F238E27FC236}">
                  <a16:creationId xmlns:a16="http://schemas.microsoft.com/office/drawing/2014/main" id="{719B4BC7-9379-A3FD-CFE0-B180165432D9}"/>
                </a:ext>
              </a:extLst>
            </p:cNvPr>
            <p:cNvSpPr txBox="1"/>
            <p:nvPr/>
          </p:nvSpPr>
          <p:spPr>
            <a:xfrm>
              <a:off x="9128975" y="1691901"/>
              <a:ext cx="989742" cy="1169551"/>
            </a:xfrm>
            <a:prstGeom prst="rect">
              <a:avLst/>
            </a:prstGeom>
            <a:noFill/>
          </p:spPr>
          <p:txBody>
            <a:bodyPr wrap="square" rtlCol="0">
              <a:spAutoFit/>
            </a:bodyPr>
            <a:lstStyle/>
            <a:p>
              <a:r>
                <a:rPr lang="en-US" sz="7000" dirty="0"/>
                <a:t>?</a:t>
              </a:r>
            </a:p>
          </p:txBody>
        </p:sp>
        <p:pic>
          <p:nvPicPr>
            <p:cNvPr id="80" name="Gráfico 79" descr="Robot con relleno sólido">
              <a:extLst>
                <a:ext uri="{FF2B5EF4-FFF2-40B4-BE49-F238E27FC236}">
                  <a16:creationId xmlns:a16="http://schemas.microsoft.com/office/drawing/2014/main" id="{D738D09F-03A5-ABF6-E41F-53333A775B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04188" y="1869122"/>
              <a:ext cx="814405" cy="814405"/>
            </a:xfrm>
            <a:prstGeom prst="rect">
              <a:avLst/>
            </a:prstGeom>
          </p:spPr>
        </p:pic>
        <p:pic>
          <p:nvPicPr>
            <p:cNvPr id="81" name="Gráfico 80" descr="Base de datos con relleno sólido">
              <a:extLst>
                <a:ext uri="{FF2B5EF4-FFF2-40B4-BE49-F238E27FC236}">
                  <a16:creationId xmlns:a16="http://schemas.microsoft.com/office/drawing/2014/main" id="{B4F02E73-DC0C-3270-494A-DE0CD4D839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78777" y="1944317"/>
              <a:ext cx="698297" cy="698297"/>
            </a:xfrm>
            <a:prstGeom prst="rect">
              <a:avLst/>
            </a:prstGeom>
          </p:spPr>
        </p:pic>
        <p:pic>
          <p:nvPicPr>
            <p:cNvPr id="82" name="Gráfico 81" descr="Informática en la nube con relleno sólido">
              <a:extLst>
                <a:ext uri="{FF2B5EF4-FFF2-40B4-BE49-F238E27FC236}">
                  <a16:creationId xmlns:a16="http://schemas.microsoft.com/office/drawing/2014/main" id="{67018A64-A8AD-E07E-35AB-2C52F97AE0D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87796" y="1874117"/>
              <a:ext cx="783774" cy="783774"/>
            </a:xfrm>
            <a:prstGeom prst="rect">
              <a:avLst/>
            </a:prstGeom>
          </p:spPr>
        </p:pic>
      </p:grpSp>
      <p:sp>
        <p:nvSpPr>
          <p:cNvPr id="2" name="CuadroTexto 1">
            <a:extLst>
              <a:ext uri="{FF2B5EF4-FFF2-40B4-BE49-F238E27FC236}">
                <a16:creationId xmlns:a16="http://schemas.microsoft.com/office/drawing/2014/main" id="{9FA66C47-FB3D-A09E-C9A6-9060C68EC67F}"/>
              </a:ext>
            </a:extLst>
          </p:cNvPr>
          <p:cNvSpPr txBox="1"/>
          <p:nvPr/>
        </p:nvSpPr>
        <p:spPr>
          <a:xfrm>
            <a:off x="9321474" y="1433429"/>
            <a:ext cx="2533101" cy="646331"/>
          </a:xfrm>
          <a:prstGeom prst="rect">
            <a:avLst/>
          </a:prstGeom>
          <a:noFill/>
        </p:spPr>
        <p:txBody>
          <a:bodyPr wrap="square">
            <a:spAutoFit/>
          </a:bodyPr>
          <a:lstStyle/>
          <a:p>
            <a:pPr algn="ctr"/>
            <a:r>
              <a:rPr lang="en-US" b="1" dirty="0">
                <a:latin typeface="Segoe UI" panose="020B0502040204020203" pitchFamily="34" charset="0"/>
                <a:cs typeface="Segoe UI" panose="020B0502040204020203" pitchFamily="34" charset="0"/>
              </a:rPr>
              <a:t>The Pain Points are </a:t>
            </a:r>
          </a:p>
          <a:p>
            <a:pPr algn="ctr"/>
            <a:r>
              <a:rPr lang="en-US" b="1" dirty="0">
                <a:latin typeface="Segoe UI" panose="020B0502040204020203" pitchFamily="34" charset="0"/>
                <a:cs typeface="Segoe UI" panose="020B0502040204020203" pitchFamily="34" charset="0"/>
              </a:rPr>
              <a:t>shown below</a:t>
            </a:r>
          </a:p>
        </p:txBody>
      </p:sp>
    </p:spTree>
    <p:extLst>
      <p:ext uri="{BB962C8B-B14F-4D97-AF65-F5344CB8AC3E}">
        <p14:creationId xmlns:p14="http://schemas.microsoft.com/office/powerpoint/2010/main" val="157692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cTn>
                              </p:par>
                              <p:par>
                                <p:cTn id="118" presetID="10" presetClass="entr" presetSubtype="0" fill="hold"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500"/>
                                        <p:tgtEl>
                                          <p:spTgt spid="41"/>
                                        </p:tgtEl>
                                      </p:cBhvr>
                                    </p:animEffect>
                                  </p:childTnLst>
                                </p:cTn>
                              </p:par>
                              <p:par>
                                <p:cTn id="121" presetID="10" presetClass="entr" presetSubtype="0" fill="hold" nodeType="with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500"/>
                                        <p:tgtEl>
                                          <p:spTgt spid="4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500"/>
                                        <p:tgtEl>
                                          <p:spTgt spid="43"/>
                                        </p:tgtEl>
                                      </p:cBhvr>
                                    </p:animEffect>
                                  </p:childTnLst>
                                </p:cTn>
                              </p:par>
                              <p:par>
                                <p:cTn id="127" presetID="10" presetClass="entr" presetSubtype="0" fill="hold" nodeType="with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500"/>
                                        <p:tgtEl>
                                          <p:spTgt spid="44"/>
                                        </p:tgtEl>
                                      </p:cBhvr>
                                    </p:animEffect>
                                  </p:childTnLst>
                                </p:cTn>
                              </p:par>
                              <p:par>
                                <p:cTn id="130" presetID="10" presetClass="entr" presetSubtype="0" fill="hold" nodeType="with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500"/>
                                        <p:tgtEl>
                                          <p:spTgt spid="45"/>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500"/>
                                        <p:tgtEl>
                                          <p:spTgt spid="46"/>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500"/>
                                        <p:tgtEl>
                                          <p:spTgt spid="47"/>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500"/>
                                        <p:tgtEl>
                                          <p:spTgt spid="52"/>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500"/>
                                        <p:tgtEl>
                                          <p:spTgt spid="56"/>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59"/>
                                        </p:tgtEl>
                                        <p:attrNameLst>
                                          <p:attrName>style.visibility</p:attrName>
                                        </p:attrNameLst>
                                      </p:cBhvr>
                                      <p:to>
                                        <p:strVal val="visible"/>
                                      </p:to>
                                    </p:set>
                                    <p:animEffect transition="in" filter="fade">
                                      <p:cBhvr>
                                        <p:cTn id="151" dur="500"/>
                                        <p:tgtEl>
                                          <p:spTgt spid="59"/>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60"/>
                                        </p:tgtEl>
                                        <p:attrNameLst>
                                          <p:attrName>style.visibility</p:attrName>
                                        </p:attrNameLst>
                                      </p:cBhvr>
                                      <p:to>
                                        <p:strVal val="visible"/>
                                      </p:to>
                                    </p:set>
                                    <p:animEffect transition="in" filter="fade">
                                      <p:cBhvr>
                                        <p:cTn id="154" dur="500"/>
                                        <p:tgtEl>
                                          <p:spTgt spid="60"/>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61"/>
                                        </p:tgtEl>
                                        <p:attrNameLst>
                                          <p:attrName>style.visibility</p:attrName>
                                        </p:attrNameLst>
                                      </p:cBhvr>
                                      <p:to>
                                        <p:strVal val="visible"/>
                                      </p:to>
                                    </p:set>
                                    <p:animEffect transition="in" filter="fade">
                                      <p:cBhvr>
                                        <p:cTn id="157" dur="500"/>
                                        <p:tgtEl>
                                          <p:spTgt spid="61"/>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2"/>
                                        </p:tgtEl>
                                        <p:attrNameLst>
                                          <p:attrName>style.visibility</p:attrName>
                                        </p:attrNameLst>
                                      </p:cBhvr>
                                      <p:to>
                                        <p:strVal val="visible"/>
                                      </p:to>
                                    </p:set>
                                    <p:animEffect transition="in" filter="fade">
                                      <p:cBhvr>
                                        <p:cTn id="160" dur="500"/>
                                        <p:tgtEl>
                                          <p:spTgt spid="62"/>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3"/>
                                        </p:tgtEl>
                                        <p:attrNameLst>
                                          <p:attrName>style.visibility</p:attrName>
                                        </p:attrNameLst>
                                      </p:cBhvr>
                                      <p:to>
                                        <p:strVal val="visible"/>
                                      </p:to>
                                    </p:set>
                                    <p:animEffect transition="in" filter="fade">
                                      <p:cBhvr>
                                        <p:cTn id="163" dur="500"/>
                                        <p:tgtEl>
                                          <p:spTgt spid="63"/>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4"/>
                                        </p:tgtEl>
                                        <p:attrNameLst>
                                          <p:attrName>style.visibility</p:attrName>
                                        </p:attrNameLst>
                                      </p:cBhvr>
                                      <p:to>
                                        <p:strVal val="visible"/>
                                      </p:to>
                                    </p:set>
                                    <p:animEffect transition="in" filter="fade">
                                      <p:cBhvr>
                                        <p:cTn id="166" dur="500"/>
                                        <p:tgtEl>
                                          <p:spTgt spid="64"/>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5"/>
                                        </p:tgtEl>
                                        <p:attrNameLst>
                                          <p:attrName>style.visibility</p:attrName>
                                        </p:attrNameLst>
                                      </p:cBhvr>
                                      <p:to>
                                        <p:strVal val="visible"/>
                                      </p:to>
                                    </p:set>
                                    <p:animEffect transition="in" filter="fade">
                                      <p:cBhvr>
                                        <p:cTn id="169" dur="500"/>
                                        <p:tgtEl>
                                          <p:spTgt spid="65"/>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58"/>
                                        </p:tgtEl>
                                        <p:attrNameLst>
                                          <p:attrName>style.visibility</p:attrName>
                                        </p:attrNameLst>
                                      </p:cBhvr>
                                      <p:to>
                                        <p:strVal val="visible"/>
                                      </p:to>
                                    </p:set>
                                    <p:animEffect transition="in" filter="fade">
                                      <p:cBhvr>
                                        <p:cTn id="172" dur="500"/>
                                        <p:tgtEl>
                                          <p:spTgt spid="58"/>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68"/>
                                        </p:tgtEl>
                                        <p:attrNameLst>
                                          <p:attrName>style.visibility</p:attrName>
                                        </p:attrNameLst>
                                      </p:cBhvr>
                                      <p:to>
                                        <p:strVal val="visible"/>
                                      </p:to>
                                    </p:set>
                                    <p:animEffect transition="in" filter="fade">
                                      <p:cBhvr>
                                        <p:cTn id="177" dur="500"/>
                                        <p:tgtEl>
                                          <p:spTgt spid="68"/>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9"/>
                                        </p:tgtEl>
                                        <p:attrNameLst>
                                          <p:attrName>style.visibility</p:attrName>
                                        </p:attrNameLst>
                                      </p:cBhvr>
                                      <p:to>
                                        <p:strVal val="visible"/>
                                      </p:to>
                                    </p:set>
                                    <p:animEffect transition="in" filter="fade">
                                      <p:cBhvr>
                                        <p:cTn id="180" dur="500"/>
                                        <p:tgtEl>
                                          <p:spTgt spid="69"/>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7"/>
                                        </p:tgtEl>
                                        <p:attrNameLst>
                                          <p:attrName>style.visibility</p:attrName>
                                        </p:attrNameLst>
                                      </p:cBhvr>
                                      <p:to>
                                        <p:strVal val="visible"/>
                                      </p:to>
                                    </p:set>
                                    <p:animEffect transition="in" filter="fade">
                                      <p:cBhvr>
                                        <p:cTn id="183" dur="500"/>
                                        <p:tgtEl>
                                          <p:spTgt spid="67"/>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grpId="0" nodeType="clickEffect">
                                  <p:stCondLst>
                                    <p:cond delay="0"/>
                                  </p:stCondLst>
                                  <p:childTnLst>
                                    <p:set>
                                      <p:cBhvr>
                                        <p:cTn id="187" dur="1" fill="hold">
                                          <p:stCondLst>
                                            <p:cond delay="0"/>
                                          </p:stCondLst>
                                        </p:cTn>
                                        <p:tgtEl>
                                          <p:spTgt spid="71"/>
                                        </p:tgtEl>
                                        <p:attrNameLst>
                                          <p:attrName>style.visibility</p:attrName>
                                        </p:attrNameLst>
                                      </p:cBhvr>
                                      <p:to>
                                        <p:strVal val="visible"/>
                                      </p:to>
                                    </p:set>
                                    <p:animEffect transition="in" filter="fade">
                                      <p:cBhvr>
                                        <p:cTn id="188" dur="500"/>
                                        <p:tgtEl>
                                          <p:spTgt spid="71"/>
                                        </p:tgtEl>
                                      </p:cBhvr>
                                    </p:animEffect>
                                  </p:childTnLst>
                                </p:cTn>
                              </p:par>
                              <p:par>
                                <p:cTn id="189" presetID="10" presetClass="entr" presetSubtype="0" fill="hold" nodeType="withEffect">
                                  <p:stCondLst>
                                    <p:cond delay="0"/>
                                  </p:stCondLst>
                                  <p:childTnLst>
                                    <p:set>
                                      <p:cBhvr>
                                        <p:cTn id="190" dur="1" fill="hold">
                                          <p:stCondLst>
                                            <p:cond delay="0"/>
                                          </p:stCondLst>
                                        </p:cTn>
                                        <p:tgtEl>
                                          <p:spTgt spid="78"/>
                                        </p:tgtEl>
                                        <p:attrNameLst>
                                          <p:attrName>style.visibility</p:attrName>
                                        </p:attrNameLst>
                                      </p:cBhvr>
                                      <p:to>
                                        <p:strVal val="visible"/>
                                      </p:to>
                                    </p:set>
                                    <p:animEffect transition="in" filter="fade">
                                      <p:cBhvr>
                                        <p:cTn id="191" dur="500"/>
                                        <p:tgtEl>
                                          <p:spTgt spid="78"/>
                                        </p:tgtEl>
                                      </p:cBhvr>
                                    </p:animEffect>
                                  </p:childTnLst>
                                </p:cTn>
                              </p:par>
                            </p:childTnLst>
                          </p:cTn>
                        </p:par>
                      </p:childTnLst>
                    </p:cTn>
                  </p:par>
                  <p:par>
                    <p:cTn id="192" fill="hold">
                      <p:stCondLst>
                        <p:cond delay="indefinite"/>
                      </p:stCondLst>
                      <p:childTnLst>
                        <p:par>
                          <p:cTn id="193"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77"/>
                                        </p:tgtEl>
                                        <p:attrNameLst>
                                          <p:attrName>style.visibility</p:attrName>
                                        </p:attrNameLst>
                                      </p:cBhvr>
                                      <p:to>
                                        <p:strVal val="visible"/>
                                      </p:to>
                                    </p:set>
                                    <p:animEffect transition="in" filter="fade">
                                      <p:cBhvr>
                                        <p:cTn id="196" dur="500"/>
                                        <p:tgtEl>
                                          <p:spTgt spid="77"/>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75"/>
                                        </p:tgtEl>
                                        <p:attrNameLst>
                                          <p:attrName>style.visibility</p:attrName>
                                        </p:attrNameLst>
                                      </p:cBhvr>
                                      <p:to>
                                        <p:strVal val="visible"/>
                                      </p:to>
                                    </p:set>
                                    <p:animEffect transition="in" filter="fade">
                                      <p:cBhvr>
                                        <p:cTn id="199"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animBg="1"/>
      <p:bldP spid="8" grpId="0" animBg="1"/>
      <p:bldP spid="9" grpId="0" animBg="1"/>
      <p:bldP spid="10" grpId="0" animBg="1"/>
      <p:bldP spid="11" grpId="0" animBg="1"/>
      <p:bldP spid="12" grpId="0" animBg="1"/>
      <p:bldP spid="13" grpId="0" animBg="1"/>
      <p:bldP spid="14" grpId="0"/>
      <p:bldP spid="15" grpId="0" animBg="1"/>
      <p:bldP spid="24" grpId="0"/>
      <p:bldP spid="25" grpId="0"/>
      <p:bldP spid="32" grpId="0"/>
      <p:bldP spid="33" grpId="0" animBg="1"/>
      <p:bldP spid="34" grpId="0" animBg="1"/>
      <p:bldP spid="35" grpId="0" animBg="1"/>
      <p:bldP spid="36" grpId="0" animBg="1"/>
      <p:bldP spid="37" grpId="0"/>
      <p:bldP spid="38" grpId="0"/>
      <p:bldP spid="39" grpId="0"/>
      <p:bldP spid="40" grpId="0" animBg="1"/>
      <p:bldP spid="43" grpId="0" animBg="1"/>
      <p:bldP spid="46" grpId="0"/>
      <p:bldP spid="47" grpId="0"/>
      <p:bldP spid="52" grpId="0" animBg="1"/>
      <p:bldP spid="56" grpId="0"/>
      <p:bldP spid="58" grpId="0"/>
      <p:bldP spid="59" grpId="0" animBg="1"/>
      <p:bldP spid="60" grpId="0" animBg="1"/>
      <p:bldP spid="61" grpId="0" animBg="1"/>
      <p:bldP spid="62" grpId="0" animBg="1"/>
      <p:bldP spid="63" grpId="0" animBg="1"/>
      <p:bldP spid="64" grpId="0" animBg="1"/>
      <p:bldP spid="65" grpId="0" animBg="1"/>
      <p:bldP spid="67" grpId="0"/>
      <p:bldP spid="68" grpId="0" animBg="1"/>
      <p:bldP spid="69" grpId="0" animBg="1"/>
      <p:bldP spid="71" grpId="0"/>
      <p:bldP spid="75" grpId="0"/>
      <p:bldP spid="77"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CuadroTexto 17">
            <a:extLst>
              <a:ext uri="{FF2B5EF4-FFF2-40B4-BE49-F238E27FC236}">
                <a16:creationId xmlns:a16="http://schemas.microsoft.com/office/drawing/2014/main" id="{1ED079E1-ADDC-D051-27E9-8F912662B686}"/>
              </a:ext>
            </a:extLst>
          </p:cNvPr>
          <p:cNvSpPr txBox="1"/>
          <p:nvPr/>
        </p:nvSpPr>
        <p:spPr>
          <a:xfrm>
            <a:off x="4055652" y="3071590"/>
            <a:ext cx="4159905" cy="707886"/>
          </a:xfrm>
          <a:prstGeom prst="rect">
            <a:avLst/>
          </a:prstGeom>
          <a:noFill/>
        </p:spPr>
        <p:txBody>
          <a:bodyPr wrap="square" rtlCol="0">
            <a:spAutoFit/>
          </a:bodyPr>
          <a:lstStyle>
            <a:defPPr>
              <a:defRPr lang="en-US"/>
            </a:defPPr>
            <a:lvl1pPr algn="ctr">
              <a:defRPr sz="4000" b="1">
                <a:latin typeface="Brandon Grotesque Bold" panose="020B0803020203060202" pitchFamily="34" charset="0"/>
                <a:cs typeface="Segoe UI Semilight" panose="020B0402040204020203" pitchFamily="34" charset="0"/>
              </a:defRPr>
            </a:lvl1pPr>
          </a:lstStyle>
          <a:p>
            <a:r>
              <a:rPr lang="es-ES_tradnl" dirty="0"/>
              <a:t>TARGET SCENARIO</a:t>
            </a:r>
          </a:p>
        </p:txBody>
      </p:sp>
    </p:spTree>
    <p:extLst>
      <p:ext uri="{BB962C8B-B14F-4D97-AF65-F5344CB8AC3E}">
        <p14:creationId xmlns:p14="http://schemas.microsoft.com/office/powerpoint/2010/main" val="136939012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25317C3-1054-FC84-5A43-8D77DA2CF227}"/>
              </a:ext>
            </a:extLst>
          </p:cNvPr>
          <p:cNvSpPr txBox="1"/>
          <p:nvPr/>
        </p:nvSpPr>
        <p:spPr>
          <a:xfrm>
            <a:off x="413258" y="374585"/>
            <a:ext cx="4386801" cy="507831"/>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sz="2700" b="1">
                <a:latin typeface="Brandon Grotesque Bold" panose="020B0803020203060202" pitchFamily="34" charset="0"/>
                <a:cs typeface="Segoe UI Semilight" panose="020B0402040204020203" pitchFamily="34" charset="0"/>
              </a:defRPr>
            </a:lvl1pPr>
          </a:lstStyle>
          <a:p>
            <a:r>
              <a:rPr lang="es-AR" dirty="0"/>
              <a:t>TARGET SCENARIO</a:t>
            </a:r>
          </a:p>
        </p:txBody>
      </p:sp>
      <p:sp>
        <p:nvSpPr>
          <p:cNvPr id="6" name="CuadroTexto 5">
            <a:extLst>
              <a:ext uri="{FF2B5EF4-FFF2-40B4-BE49-F238E27FC236}">
                <a16:creationId xmlns:a16="http://schemas.microsoft.com/office/drawing/2014/main" id="{297F7673-AEE3-28F5-F84C-C42E89D2901E}"/>
              </a:ext>
            </a:extLst>
          </p:cNvPr>
          <p:cNvSpPr txBox="1"/>
          <p:nvPr/>
        </p:nvSpPr>
        <p:spPr>
          <a:xfrm>
            <a:off x="508000" y="1124635"/>
            <a:ext cx="8869680" cy="400110"/>
          </a:xfrm>
          <a:prstGeom prst="rect">
            <a:avLst/>
          </a:prstGeom>
          <a:noFill/>
        </p:spPr>
        <p:txBody>
          <a:bodyPr wrap="square">
            <a:spAutoFit/>
          </a:bodyPr>
          <a:lstStyle/>
          <a:p>
            <a:r>
              <a:rPr lang="en-US" sz="2000" dirty="0">
                <a:latin typeface="Segoe UI" panose="020B0502040204020203" pitchFamily="34" charset="0"/>
                <a:cs typeface="Segoe UI" panose="020B0502040204020203" pitchFamily="34" charset="0"/>
              </a:rPr>
              <a:t>Suggested Solution Strategy for Development and Implementation</a:t>
            </a:r>
          </a:p>
        </p:txBody>
      </p:sp>
      <p:sp>
        <p:nvSpPr>
          <p:cNvPr id="8" name="CuadroTexto 7">
            <a:extLst>
              <a:ext uri="{FF2B5EF4-FFF2-40B4-BE49-F238E27FC236}">
                <a16:creationId xmlns:a16="http://schemas.microsoft.com/office/drawing/2014/main" id="{E9296A58-331D-3147-3E8F-CA1BB9A1E9D8}"/>
              </a:ext>
            </a:extLst>
          </p:cNvPr>
          <p:cNvSpPr txBox="1"/>
          <p:nvPr/>
        </p:nvSpPr>
        <p:spPr>
          <a:xfrm>
            <a:off x="508000" y="1670592"/>
            <a:ext cx="9672320" cy="369332"/>
          </a:xfrm>
          <a:prstGeom prst="rect">
            <a:avLst/>
          </a:prstGeom>
          <a:noFill/>
        </p:spPr>
        <p:txBody>
          <a:bodyPr wrap="square">
            <a:spAutoFit/>
          </a:bodyPr>
          <a:lstStyle/>
          <a:p>
            <a:pPr marL="182563" indent="-182563">
              <a:buFont typeface="Arial" panose="020B0604020202020204" pitchFamily="34" charset="0"/>
              <a:buChar char="•"/>
            </a:pPr>
            <a:r>
              <a:rPr lang="en-US" dirty="0">
                <a:latin typeface="Segoe UI" panose="020B0502040204020203" pitchFamily="34" charset="0"/>
                <a:cs typeface="Segoe UI" panose="020B0502040204020203" pitchFamily="34" charset="0"/>
              </a:rPr>
              <a:t>The </a:t>
            </a:r>
            <a:r>
              <a:rPr lang="en-US" b="1" dirty="0">
                <a:latin typeface="Segoe UI" panose="020B0502040204020203" pitchFamily="34" charset="0"/>
                <a:cs typeface="Segoe UI" panose="020B0502040204020203" pitchFamily="34" charset="0"/>
              </a:rPr>
              <a:t>form fields </a:t>
            </a:r>
            <a:r>
              <a:rPr lang="en-US" dirty="0">
                <a:latin typeface="Segoe UI" panose="020B0502040204020203" pitchFamily="34" charset="0"/>
                <a:cs typeface="Segoe UI" panose="020B0502040204020203" pitchFamily="34" charset="0"/>
              </a:rPr>
              <a:t>will be:</a:t>
            </a:r>
          </a:p>
        </p:txBody>
      </p:sp>
      <p:graphicFrame>
        <p:nvGraphicFramePr>
          <p:cNvPr id="9" name="Tabla 8">
            <a:extLst>
              <a:ext uri="{FF2B5EF4-FFF2-40B4-BE49-F238E27FC236}">
                <a16:creationId xmlns:a16="http://schemas.microsoft.com/office/drawing/2014/main" id="{9A6AE613-7E72-0593-970A-1A6ABF2FD8BD}"/>
              </a:ext>
            </a:extLst>
          </p:cNvPr>
          <p:cNvGraphicFramePr>
            <a:graphicFrameLocks noGrp="1"/>
          </p:cNvGraphicFramePr>
          <p:nvPr>
            <p:extLst>
              <p:ext uri="{D42A27DB-BD31-4B8C-83A1-F6EECF244321}">
                <p14:modId xmlns:p14="http://schemas.microsoft.com/office/powerpoint/2010/main" val="887577216"/>
              </p:ext>
            </p:extLst>
          </p:nvPr>
        </p:nvGraphicFramePr>
        <p:xfrm>
          <a:off x="1861820" y="2185771"/>
          <a:ext cx="8468360" cy="1828800"/>
        </p:xfrm>
        <a:graphic>
          <a:graphicData uri="http://schemas.openxmlformats.org/drawingml/2006/table">
            <a:tbl>
              <a:tblPr firstRow="1" bandRow="1">
                <a:tableStyleId>{BC89EF96-8CEA-46FF-86C4-4CE0E7609802}</a:tableStyleId>
              </a:tblPr>
              <a:tblGrid>
                <a:gridCol w="4119880">
                  <a:extLst>
                    <a:ext uri="{9D8B030D-6E8A-4147-A177-3AD203B41FA5}">
                      <a16:colId xmlns:a16="http://schemas.microsoft.com/office/drawing/2014/main" val="343617052"/>
                    </a:ext>
                  </a:extLst>
                </a:gridCol>
                <a:gridCol w="4348480">
                  <a:extLst>
                    <a:ext uri="{9D8B030D-6E8A-4147-A177-3AD203B41FA5}">
                      <a16:colId xmlns:a16="http://schemas.microsoft.com/office/drawing/2014/main" val="2624085935"/>
                    </a:ext>
                  </a:extLst>
                </a:gridCol>
              </a:tblGrid>
              <a:tr h="2289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latin typeface="Segoe UI" panose="020B0502040204020203" pitchFamily="34" charset="0"/>
                          <a:cs typeface="Segoe UI" panose="020B0502040204020203" pitchFamily="34" charset="0"/>
                        </a:rPr>
                        <a:t>Timestamp (automatic)</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latin typeface="Segoe UI" panose="020B0502040204020203" pitchFamily="34" charset="0"/>
                          <a:cs typeface="Segoe UI" panose="020B0502040204020203" pitchFamily="34" charset="0"/>
                        </a:rPr>
                        <a:t>Channel</a:t>
                      </a:r>
                    </a:p>
                  </a:txBody>
                  <a:tcPr/>
                </a:tc>
                <a:extLst>
                  <a:ext uri="{0D108BD9-81ED-4DB2-BD59-A6C34878D82A}">
                    <a16:rowId xmlns:a16="http://schemas.microsoft.com/office/drawing/2014/main" val="1477785410"/>
                  </a:ext>
                </a:extLst>
              </a:tr>
              <a:tr h="2289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Customer Name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Branch</a:t>
                      </a:r>
                    </a:p>
                  </a:txBody>
                  <a:tcPr/>
                </a:tc>
                <a:extLst>
                  <a:ext uri="{0D108BD9-81ED-4DB2-BD59-A6C34878D82A}">
                    <a16:rowId xmlns:a16="http://schemas.microsoft.com/office/drawing/2014/main" val="924531796"/>
                  </a:ext>
                </a:extLst>
              </a:tr>
              <a:tr h="2289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Customer Number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Employee Name Completing</a:t>
                      </a:r>
                    </a:p>
                  </a:txBody>
                  <a:tcPr/>
                </a:tc>
                <a:extLst>
                  <a:ext uri="{0D108BD9-81ED-4DB2-BD59-A6C34878D82A}">
                    <a16:rowId xmlns:a16="http://schemas.microsoft.com/office/drawing/2014/main" val="134841372"/>
                  </a:ext>
                </a:extLst>
              </a:tr>
              <a:tr h="2289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Email Address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Urgency Level</a:t>
                      </a:r>
                    </a:p>
                  </a:txBody>
                  <a:tcPr/>
                </a:tc>
                <a:extLst>
                  <a:ext uri="{0D108BD9-81ED-4DB2-BD59-A6C34878D82A}">
                    <a16:rowId xmlns:a16="http://schemas.microsoft.com/office/drawing/2014/main" val="3433732899"/>
                  </a:ext>
                </a:extLst>
              </a:tr>
              <a:tr h="2289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Product(s) of Interest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Priority Product</a:t>
                      </a:r>
                    </a:p>
                  </a:txBody>
                  <a:tcPr/>
                </a:tc>
                <a:extLst>
                  <a:ext uri="{0D108BD9-81ED-4DB2-BD59-A6C34878D82A}">
                    <a16:rowId xmlns:a16="http://schemas.microsoft.com/office/drawing/2014/main" val="1673614212"/>
                  </a:ext>
                </a:extLst>
              </a:tr>
              <a:tr h="2289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Comment of the Interest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Segoe UI" panose="020B0502040204020203" pitchFamily="34" charset="0"/>
                          <a:cs typeface="Segoe UI" panose="020B0502040204020203" pitchFamily="34" charset="0"/>
                        </a:rPr>
                        <a:t>Processed/Notified (From NLP Model)</a:t>
                      </a:r>
                    </a:p>
                  </a:txBody>
                  <a:tcPr/>
                </a:tc>
                <a:extLst>
                  <a:ext uri="{0D108BD9-81ED-4DB2-BD59-A6C34878D82A}">
                    <a16:rowId xmlns:a16="http://schemas.microsoft.com/office/drawing/2014/main" val="3060183818"/>
                  </a:ext>
                </a:extLst>
              </a:tr>
            </a:tbl>
          </a:graphicData>
        </a:graphic>
      </p:graphicFrame>
      <p:sp>
        <p:nvSpPr>
          <p:cNvPr id="11" name="CuadroTexto 10">
            <a:extLst>
              <a:ext uri="{FF2B5EF4-FFF2-40B4-BE49-F238E27FC236}">
                <a16:creationId xmlns:a16="http://schemas.microsoft.com/office/drawing/2014/main" id="{97AF208F-2A36-55F8-8D9C-BF066711D43B}"/>
              </a:ext>
            </a:extLst>
          </p:cNvPr>
          <p:cNvSpPr txBox="1"/>
          <p:nvPr/>
        </p:nvSpPr>
        <p:spPr>
          <a:xfrm>
            <a:off x="508000" y="4375146"/>
            <a:ext cx="11379200" cy="2185214"/>
          </a:xfrm>
          <a:prstGeom prst="rect">
            <a:avLst/>
          </a:prstGeom>
          <a:noFill/>
        </p:spPr>
        <p:txBody>
          <a:bodyPr wrap="square">
            <a:spAutoFit/>
          </a:bodyPr>
          <a:lstStyle/>
          <a:p>
            <a:pPr marL="182563" indent="-182563">
              <a:spcAft>
                <a:spcPts val="1200"/>
              </a:spcAft>
              <a:buFont typeface="Arial" panose="020B0604020202020204" pitchFamily="34" charset="0"/>
              <a:buChar char="•"/>
            </a:pPr>
            <a:r>
              <a:rPr lang="en-US" b="1" dirty="0">
                <a:latin typeface="Segoe UI" panose="020B0502040204020203" pitchFamily="34" charset="0"/>
                <a:cs typeface="Segoe UI" panose="020B0502040204020203" pitchFamily="34" charset="0"/>
              </a:rPr>
              <a:t>Business Rules</a:t>
            </a:r>
            <a:r>
              <a:rPr lang="en-US" dirty="0">
                <a:latin typeface="Segoe UI" panose="020B0502040204020203" pitchFamily="34" charset="0"/>
                <a:cs typeface="Segoe UI" panose="020B0502040204020203" pitchFamily="34" charset="0"/>
              </a:rPr>
              <a:t>: We define </a:t>
            </a:r>
            <a:r>
              <a:rPr lang="en-US" u="sng" dirty="0">
                <a:latin typeface="Segoe UI" panose="020B0502040204020203" pitchFamily="34" charset="0"/>
                <a:cs typeface="Segoe UI" panose="020B0502040204020203" pitchFamily="34" charset="0"/>
              </a:rPr>
              <a:t>Urgency Level</a:t>
            </a:r>
            <a:r>
              <a:rPr lang="en-US" dirty="0">
                <a:latin typeface="Segoe UI" panose="020B0502040204020203" pitchFamily="34" charset="0"/>
                <a:cs typeface="Segoe UI" panose="020B0502040204020203" pitchFamily="34" charset="0"/>
              </a:rPr>
              <a:t> and </a:t>
            </a:r>
            <a:r>
              <a:rPr lang="en-US" u="sng" dirty="0">
                <a:latin typeface="Segoe UI" panose="020B0502040204020203" pitchFamily="34" charset="0"/>
                <a:cs typeface="Segoe UI" panose="020B0502040204020203" pitchFamily="34" charset="0"/>
              </a:rPr>
              <a:t>Priority Product</a:t>
            </a:r>
            <a:r>
              <a:rPr lang="en-US" dirty="0">
                <a:latin typeface="Segoe UI" panose="020B0502040204020203" pitchFamily="34" charset="0"/>
                <a:cs typeface="Segoe UI" panose="020B0502040204020203" pitchFamily="34" charset="0"/>
              </a:rPr>
              <a:t> as key business parameters to support decision-making and process monitoring.</a:t>
            </a:r>
          </a:p>
          <a:p>
            <a:pPr marL="742950" lvl="1" indent="-285750">
              <a:spcAft>
                <a:spcPts val="1200"/>
              </a:spcAft>
              <a:buFont typeface="Wingdings" panose="05000000000000000000" pitchFamily="2" charset="2"/>
              <a:buChar char="ü"/>
            </a:pPr>
            <a:r>
              <a:rPr lang="en-US" sz="1600" b="1" dirty="0">
                <a:latin typeface="Segoe UI" panose="020B0502040204020203" pitchFamily="34" charset="0"/>
                <a:cs typeface="Segoe UI" panose="020B0502040204020203" pitchFamily="34" charset="0"/>
              </a:rPr>
              <a:t>Urgency Level: </a:t>
            </a:r>
            <a:r>
              <a:rPr lang="en-US" sz="1600" dirty="0">
                <a:latin typeface="Segoe UI" panose="020B0502040204020203" pitchFamily="34" charset="0"/>
                <a:cs typeface="Segoe UI" panose="020B0502040204020203" pitchFamily="34" charset="0"/>
              </a:rPr>
              <a:t>represents the degree of need or interest expressed in the customer's message (evaluated through sentiment analysis). The source is the subjectivity of the comment.</a:t>
            </a:r>
          </a:p>
          <a:p>
            <a:pPr marL="742950" lvl="1" indent="-285750">
              <a:spcAft>
                <a:spcPts val="600"/>
              </a:spcAft>
              <a:buFont typeface="Wingdings" panose="05000000000000000000" pitchFamily="2" charset="2"/>
              <a:buChar char="ü"/>
            </a:pPr>
            <a:r>
              <a:rPr lang="en-US" sz="1600" b="1" dirty="0">
                <a:latin typeface="Segoe UI" panose="020B0502040204020203" pitchFamily="34" charset="0"/>
                <a:cs typeface="Segoe UI" panose="020B0502040204020203" pitchFamily="34" charset="0"/>
              </a:rPr>
              <a:t>Priority Product: </a:t>
            </a:r>
            <a:r>
              <a:rPr lang="en-US" sz="1600" dirty="0">
                <a:latin typeface="Segoe UI" panose="020B0502040204020203" pitchFamily="34" charset="0"/>
                <a:cs typeface="Segoe UI" panose="020B0502040204020203" pitchFamily="34" charset="0"/>
              </a:rPr>
              <a:t>reflects the business importance of the product (e.g., products with higher margins or part of marketing campaigns). This is defined by policies or business rules and is useful for investment and marketing decisions.</a:t>
            </a:r>
          </a:p>
        </p:txBody>
      </p:sp>
    </p:spTree>
    <p:extLst>
      <p:ext uri="{BB962C8B-B14F-4D97-AF65-F5344CB8AC3E}">
        <p14:creationId xmlns:p14="http://schemas.microsoft.com/office/powerpoint/2010/main" val="3717669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fade">
                                      <p:cBhvr>
                                        <p:cTn id="23" dur="500"/>
                                        <p:tgtEl>
                                          <p:spTgt spid="11">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1">
                                            <p:txEl>
                                              <p:pRg st="1" end="1"/>
                                            </p:txEl>
                                          </p:spTgt>
                                        </p:tgtEl>
                                        <p:attrNameLst>
                                          <p:attrName>style.visibility</p:attrName>
                                        </p:attrNameLst>
                                      </p:cBhvr>
                                      <p:to>
                                        <p:strVal val="visible"/>
                                      </p:to>
                                    </p:set>
                                    <p:animEffect transition="in" filter="fade">
                                      <p:cBhvr>
                                        <p:cTn id="28" dur="500"/>
                                        <p:tgtEl>
                                          <p:spTgt spid="11">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xEl>
                                              <p:pRg st="2" end="2"/>
                                            </p:txEl>
                                          </p:spTgt>
                                        </p:tgtEl>
                                        <p:attrNameLst>
                                          <p:attrName>style.visibility</p:attrName>
                                        </p:attrNameLst>
                                      </p:cBhvr>
                                      <p:to>
                                        <p:strVal val="visible"/>
                                      </p:to>
                                    </p:set>
                                    <p:animEffect transition="in" filter="fade">
                                      <p:cBhvr>
                                        <p:cTn id="33"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6889892-4F5C-AA29-4727-D32597DBA3C9}"/>
              </a:ext>
            </a:extLst>
          </p:cNvPr>
          <p:cNvSpPr txBox="1"/>
          <p:nvPr/>
        </p:nvSpPr>
        <p:spPr>
          <a:xfrm>
            <a:off x="413258" y="374585"/>
            <a:ext cx="4386801" cy="507831"/>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sz="2700" b="1">
                <a:latin typeface="Brandon Grotesque Bold" panose="020B0803020203060202" pitchFamily="34" charset="0"/>
                <a:cs typeface="Segoe UI Semilight" panose="020B0402040204020203" pitchFamily="34" charset="0"/>
              </a:defRPr>
            </a:lvl1pPr>
          </a:lstStyle>
          <a:p>
            <a:r>
              <a:rPr lang="es-AR" dirty="0"/>
              <a:t>TARGET SCENARIO</a:t>
            </a:r>
          </a:p>
        </p:txBody>
      </p:sp>
      <p:sp>
        <p:nvSpPr>
          <p:cNvPr id="5" name="CuadroTexto 4">
            <a:extLst>
              <a:ext uri="{FF2B5EF4-FFF2-40B4-BE49-F238E27FC236}">
                <a16:creationId xmlns:a16="http://schemas.microsoft.com/office/drawing/2014/main" id="{C3D34BCA-877C-4535-0E30-E683B4D4D572}"/>
              </a:ext>
            </a:extLst>
          </p:cNvPr>
          <p:cNvSpPr txBox="1"/>
          <p:nvPr/>
        </p:nvSpPr>
        <p:spPr>
          <a:xfrm>
            <a:off x="508000" y="1124635"/>
            <a:ext cx="8869680" cy="400110"/>
          </a:xfrm>
          <a:prstGeom prst="rect">
            <a:avLst/>
          </a:prstGeom>
          <a:noFill/>
        </p:spPr>
        <p:txBody>
          <a:bodyPr wrap="square">
            <a:spAutoFit/>
          </a:bodyPr>
          <a:lstStyle/>
          <a:p>
            <a:r>
              <a:rPr lang="en-US" sz="2000" dirty="0">
                <a:latin typeface="Segoe UI" panose="020B0502040204020203" pitchFamily="34" charset="0"/>
                <a:cs typeface="Segoe UI" panose="020B0502040204020203" pitchFamily="34" charset="0"/>
              </a:rPr>
              <a:t>Suggested Solution Strategy for Development and Implementation</a:t>
            </a:r>
          </a:p>
        </p:txBody>
      </p:sp>
      <p:sp>
        <p:nvSpPr>
          <p:cNvPr id="7" name="CuadroTexto 6">
            <a:extLst>
              <a:ext uri="{FF2B5EF4-FFF2-40B4-BE49-F238E27FC236}">
                <a16:creationId xmlns:a16="http://schemas.microsoft.com/office/drawing/2014/main" id="{87FA7BB8-2349-8BE4-FC84-C7F77B793F3C}"/>
              </a:ext>
            </a:extLst>
          </p:cNvPr>
          <p:cNvSpPr txBox="1"/>
          <p:nvPr/>
        </p:nvSpPr>
        <p:spPr>
          <a:xfrm>
            <a:off x="508000" y="2010678"/>
            <a:ext cx="9438640" cy="2169825"/>
          </a:xfrm>
          <a:prstGeom prst="rect">
            <a:avLst/>
          </a:prstGeom>
          <a:noFill/>
        </p:spPr>
        <p:txBody>
          <a:bodyPr wrap="square">
            <a:spAutoFit/>
          </a:bodyPr>
          <a:lstStyle/>
          <a:p>
            <a:pPr marL="182563" indent="-182563">
              <a:spcAft>
                <a:spcPts val="1200"/>
              </a:spcAft>
              <a:buFont typeface="Arial" panose="020B0604020202020204" pitchFamily="34" charset="0"/>
              <a:buChar char="•"/>
            </a:pPr>
            <a:r>
              <a:rPr lang="en-US" sz="1900" dirty="0">
                <a:latin typeface="Segoe UI" panose="020B0502040204020203" pitchFamily="34" charset="0"/>
                <a:cs typeface="Segoe UI" panose="020B0502040204020203" pitchFamily="34" charset="0"/>
              </a:rPr>
              <a:t>Potential KPIs for this process include:</a:t>
            </a:r>
          </a:p>
          <a:p>
            <a:pPr marL="742950" lvl="1" indent="-285750">
              <a:spcAft>
                <a:spcPts val="1200"/>
              </a:spcAft>
              <a:buFont typeface="Wingdings" panose="05000000000000000000" pitchFamily="2" charset="2"/>
              <a:buChar char="ü"/>
            </a:pPr>
            <a:r>
              <a:rPr lang="en-US" sz="1900" dirty="0">
                <a:latin typeface="Segoe UI" panose="020B0502040204020203" pitchFamily="34" charset="0"/>
                <a:cs typeface="Segoe UI" panose="020B0502040204020203" pitchFamily="34" charset="0"/>
              </a:rPr>
              <a:t>% of Urgent Leads</a:t>
            </a:r>
          </a:p>
          <a:p>
            <a:pPr marL="742950" lvl="1" indent="-285750">
              <a:spcAft>
                <a:spcPts val="1200"/>
              </a:spcAft>
              <a:buFont typeface="Wingdings" panose="05000000000000000000" pitchFamily="2" charset="2"/>
              <a:buChar char="ü"/>
            </a:pPr>
            <a:r>
              <a:rPr lang="en-US" sz="1900" dirty="0">
                <a:latin typeface="Segoe UI" panose="020B0502040204020203" pitchFamily="34" charset="0"/>
                <a:cs typeface="Segoe UI" panose="020B0502040204020203" pitchFamily="34" charset="0"/>
              </a:rPr>
              <a:t>% of Priority Products</a:t>
            </a:r>
          </a:p>
          <a:p>
            <a:pPr marL="742950" lvl="1" indent="-285750">
              <a:spcAft>
                <a:spcPts val="1200"/>
              </a:spcAft>
              <a:buFont typeface="Wingdings" panose="05000000000000000000" pitchFamily="2" charset="2"/>
              <a:buChar char="ü"/>
            </a:pPr>
            <a:r>
              <a:rPr lang="en-US" sz="1900" dirty="0">
                <a:latin typeface="Segoe UI" panose="020B0502040204020203" pitchFamily="34" charset="0"/>
                <a:cs typeface="Segoe UI" panose="020B0502040204020203" pitchFamily="34" charset="0"/>
              </a:rPr>
              <a:t>Average Response Time to Urgent Leads</a:t>
            </a:r>
          </a:p>
          <a:p>
            <a:pPr marL="742950" lvl="1" indent="-285750">
              <a:spcAft>
                <a:spcPts val="1200"/>
              </a:spcAft>
              <a:buFont typeface="Wingdings" panose="05000000000000000000" pitchFamily="2" charset="2"/>
              <a:buChar char="ü"/>
            </a:pPr>
            <a:r>
              <a:rPr lang="en-US" sz="1900" dirty="0">
                <a:latin typeface="Segoe UI" panose="020B0502040204020203" pitchFamily="34" charset="0"/>
                <a:cs typeface="Segoe UI" panose="020B0502040204020203" pitchFamily="34" charset="0"/>
              </a:rPr>
              <a:t>% of Urgent Leads Without Follow-up</a:t>
            </a:r>
          </a:p>
        </p:txBody>
      </p:sp>
      <p:sp>
        <p:nvSpPr>
          <p:cNvPr id="9" name="CuadroTexto 8">
            <a:extLst>
              <a:ext uri="{FF2B5EF4-FFF2-40B4-BE49-F238E27FC236}">
                <a16:creationId xmlns:a16="http://schemas.microsoft.com/office/drawing/2014/main" id="{BC43F0F6-4E13-8286-72D6-7A37223AE327}"/>
              </a:ext>
            </a:extLst>
          </p:cNvPr>
          <p:cNvSpPr txBox="1"/>
          <p:nvPr/>
        </p:nvSpPr>
        <p:spPr>
          <a:xfrm>
            <a:off x="508000" y="4502259"/>
            <a:ext cx="6096000" cy="1231106"/>
          </a:xfrm>
          <a:prstGeom prst="rect">
            <a:avLst/>
          </a:prstGeom>
          <a:noFill/>
        </p:spPr>
        <p:txBody>
          <a:bodyPr wrap="square">
            <a:spAutoFit/>
          </a:bodyPr>
          <a:lstStyle/>
          <a:p>
            <a:pPr marL="182563" indent="-182563">
              <a:spcAft>
                <a:spcPts val="1200"/>
              </a:spcAft>
              <a:buFont typeface="Arial" panose="020B0604020202020204" pitchFamily="34" charset="0"/>
              <a:buChar char="•"/>
            </a:pPr>
            <a:r>
              <a:rPr lang="en-US" sz="1800" dirty="0">
                <a:latin typeface="Segoe UI" panose="020B0502040204020203" pitchFamily="34" charset="0"/>
                <a:cs typeface="Segoe UI" panose="020B0502040204020203" pitchFamily="34" charset="0"/>
              </a:rPr>
              <a:t>For this demo, we will focus on:</a:t>
            </a:r>
          </a:p>
          <a:p>
            <a:pPr>
              <a:spcAft>
                <a:spcPts val="1200"/>
              </a:spcAft>
            </a:pPr>
            <a:r>
              <a:rPr lang="en-US" sz="1800" b="1" dirty="0">
                <a:latin typeface="Segoe UI" panose="020B0502040204020203" pitchFamily="34" charset="0"/>
                <a:cs typeface="Segoe UI" panose="020B0502040204020203" pitchFamily="34" charset="0"/>
              </a:rPr>
              <a:t>	✅ % of Urgent Leads</a:t>
            </a:r>
          </a:p>
          <a:p>
            <a:pPr>
              <a:spcAft>
                <a:spcPts val="1200"/>
              </a:spcAft>
            </a:pPr>
            <a:r>
              <a:rPr lang="en-US" sz="1800" b="1" dirty="0">
                <a:latin typeface="Segoe UI" panose="020B0502040204020203" pitchFamily="34" charset="0"/>
                <a:cs typeface="Segoe UI" panose="020B0502040204020203" pitchFamily="34" charset="0"/>
              </a:rPr>
              <a:t>	✅ % of Priority Products</a:t>
            </a:r>
          </a:p>
        </p:txBody>
      </p:sp>
    </p:spTree>
    <p:extLst>
      <p:ext uri="{BB962C8B-B14F-4D97-AF65-F5344CB8AC3E}">
        <p14:creationId xmlns:p14="http://schemas.microsoft.com/office/powerpoint/2010/main" val="2184678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0F2B9D0-E86A-1581-BA01-740A3FCB5643}"/>
              </a:ext>
            </a:extLst>
          </p:cNvPr>
          <p:cNvSpPr txBox="1"/>
          <p:nvPr/>
        </p:nvSpPr>
        <p:spPr>
          <a:xfrm>
            <a:off x="413258" y="374585"/>
            <a:ext cx="4386801" cy="507831"/>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sz="2700" b="1">
                <a:latin typeface="Brandon Grotesque Bold" panose="020B0803020203060202" pitchFamily="34" charset="0"/>
                <a:cs typeface="Segoe UI Semilight" panose="020B0402040204020203" pitchFamily="34" charset="0"/>
              </a:defRPr>
            </a:lvl1pPr>
          </a:lstStyle>
          <a:p>
            <a:r>
              <a:rPr lang="es-AR" dirty="0"/>
              <a:t>TARGET SCENARIO</a:t>
            </a:r>
          </a:p>
        </p:txBody>
      </p:sp>
      <p:sp>
        <p:nvSpPr>
          <p:cNvPr id="6" name="CuadroTexto 5">
            <a:extLst>
              <a:ext uri="{FF2B5EF4-FFF2-40B4-BE49-F238E27FC236}">
                <a16:creationId xmlns:a16="http://schemas.microsoft.com/office/drawing/2014/main" id="{2BB0B77F-56A1-1522-319C-8CD2CFECCEA2}"/>
              </a:ext>
            </a:extLst>
          </p:cNvPr>
          <p:cNvSpPr txBox="1"/>
          <p:nvPr/>
        </p:nvSpPr>
        <p:spPr>
          <a:xfrm>
            <a:off x="456131" y="952982"/>
            <a:ext cx="11539681" cy="369332"/>
          </a:xfrm>
          <a:prstGeom prst="rect">
            <a:avLst/>
          </a:prstGeom>
          <a:noFill/>
        </p:spPr>
        <p:txBody>
          <a:bodyPr wrap="square">
            <a:spAutoFit/>
          </a:bodyPr>
          <a:lstStyle/>
          <a:p>
            <a:r>
              <a:rPr lang="en-US" dirty="0">
                <a:latin typeface="Segoe UI" panose="020B0502040204020203" pitchFamily="34" charset="0"/>
                <a:cs typeface="Segoe UI" panose="020B0502040204020203" pitchFamily="34" charset="0"/>
              </a:rPr>
              <a:t>The following diagram shows the high-level </a:t>
            </a:r>
            <a:r>
              <a:rPr lang="en-US" b="1" dirty="0">
                <a:latin typeface="Segoe UI" panose="020B0502040204020203" pitchFamily="34" charset="0"/>
                <a:cs typeface="Segoe UI" panose="020B0502040204020203" pitchFamily="34" charset="0"/>
              </a:rPr>
              <a:t>To-Be</a:t>
            </a:r>
            <a:r>
              <a:rPr lang="en-US" dirty="0">
                <a:latin typeface="Segoe UI" panose="020B0502040204020203" pitchFamily="34" charset="0"/>
                <a:cs typeface="Segoe UI" panose="020B0502040204020203" pitchFamily="34" charset="0"/>
              </a:rPr>
              <a:t> process</a:t>
            </a:r>
          </a:p>
        </p:txBody>
      </p:sp>
      <p:sp>
        <p:nvSpPr>
          <p:cNvPr id="7" name="Elipse 6">
            <a:extLst>
              <a:ext uri="{FF2B5EF4-FFF2-40B4-BE49-F238E27FC236}">
                <a16:creationId xmlns:a16="http://schemas.microsoft.com/office/drawing/2014/main" id="{E7A195FE-03A7-FE20-BEC9-7238A47C36DB}"/>
              </a:ext>
            </a:extLst>
          </p:cNvPr>
          <p:cNvSpPr/>
          <p:nvPr/>
        </p:nvSpPr>
        <p:spPr>
          <a:xfrm>
            <a:off x="1966385" y="2326716"/>
            <a:ext cx="182448" cy="170666"/>
          </a:xfrm>
          <a:prstGeom prst="ellipse">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Elipse 7">
            <a:extLst>
              <a:ext uri="{FF2B5EF4-FFF2-40B4-BE49-F238E27FC236}">
                <a16:creationId xmlns:a16="http://schemas.microsoft.com/office/drawing/2014/main" id="{E455C8A9-98C0-85CB-3970-D8FE74CA96EE}"/>
              </a:ext>
            </a:extLst>
          </p:cNvPr>
          <p:cNvSpPr/>
          <p:nvPr/>
        </p:nvSpPr>
        <p:spPr>
          <a:xfrm>
            <a:off x="9242783" y="4882213"/>
            <a:ext cx="182448" cy="170666"/>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esquinas redondeadas 8">
            <a:extLst>
              <a:ext uri="{FF2B5EF4-FFF2-40B4-BE49-F238E27FC236}">
                <a16:creationId xmlns:a16="http://schemas.microsoft.com/office/drawing/2014/main" id="{49555804-2769-4861-C0E3-95C438016CC7}"/>
              </a:ext>
            </a:extLst>
          </p:cNvPr>
          <p:cNvSpPr/>
          <p:nvPr/>
        </p:nvSpPr>
        <p:spPr>
          <a:xfrm>
            <a:off x="2250865" y="4690932"/>
            <a:ext cx="1135705" cy="559902"/>
          </a:xfrm>
          <a:prstGeom prst="roundRect">
            <a:avLst/>
          </a:prstGeom>
          <a:solidFill>
            <a:srgbClr val="92D05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latin typeface="Segoe UI" panose="020B0502040204020203" pitchFamily="34" charset="0"/>
                <a:cs typeface="Segoe UI" panose="020B0502040204020203" pitchFamily="34" charset="0"/>
              </a:rPr>
              <a:t>Records stored in the cloud</a:t>
            </a:r>
          </a:p>
        </p:txBody>
      </p:sp>
      <p:sp>
        <p:nvSpPr>
          <p:cNvPr id="10" name="Rectángulo: esquinas redondeadas 9">
            <a:extLst>
              <a:ext uri="{FF2B5EF4-FFF2-40B4-BE49-F238E27FC236}">
                <a16:creationId xmlns:a16="http://schemas.microsoft.com/office/drawing/2014/main" id="{E822EBD1-D4B1-9938-EF31-80CA9851719B}"/>
              </a:ext>
            </a:extLst>
          </p:cNvPr>
          <p:cNvSpPr/>
          <p:nvPr/>
        </p:nvSpPr>
        <p:spPr>
          <a:xfrm>
            <a:off x="3800614" y="4687596"/>
            <a:ext cx="1135705" cy="559902"/>
          </a:xfrm>
          <a:prstGeom prst="roundRect">
            <a:avLst/>
          </a:prstGeom>
          <a:solidFill>
            <a:srgbClr val="92D05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latin typeface="Segoe UI" panose="020B0502040204020203" pitchFamily="34" charset="0"/>
                <a:cs typeface="Segoe UI" panose="020B0502040204020203" pitchFamily="34" charset="0"/>
              </a:rPr>
              <a:t>Analyze sentiments and needs</a:t>
            </a:r>
          </a:p>
        </p:txBody>
      </p:sp>
      <p:sp>
        <p:nvSpPr>
          <p:cNvPr id="11" name="Rectángulo: esquinas redondeadas 10">
            <a:extLst>
              <a:ext uri="{FF2B5EF4-FFF2-40B4-BE49-F238E27FC236}">
                <a16:creationId xmlns:a16="http://schemas.microsoft.com/office/drawing/2014/main" id="{0A5AE1B0-3862-C79B-E82B-54351EDEB96F}"/>
              </a:ext>
            </a:extLst>
          </p:cNvPr>
          <p:cNvSpPr/>
          <p:nvPr/>
        </p:nvSpPr>
        <p:spPr>
          <a:xfrm>
            <a:off x="6144692" y="4687595"/>
            <a:ext cx="1135705" cy="559902"/>
          </a:xfrm>
          <a:prstGeom prst="roundRect">
            <a:avLst/>
          </a:prstGeom>
          <a:solidFill>
            <a:srgbClr val="92D05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latin typeface="Segoe UI" panose="020B0502040204020203" pitchFamily="34" charset="0"/>
                <a:cs typeface="Segoe UI" panose="020B0502040204020203" pitchFamily="34" charset="0"/>
              </a:rPr>
              <a:t>Send alert and follow-up</a:t>
            </a:r>
          </a:p>
        </p:txBody>
      </p:sp>
      <p:sp>
        <p:nvSpPr>
          <p:cNvPr id="12" name="Rombo 11">
            <a:extLst>
              <a:ext uri="{FF2B5EF4-FFF2-40B4-BE49-F238E27FC236}">
                <a16:creationId xmlns:a16="http://schemas.microsoft.com/office/drawing/2014/main" id="{2C4B31CC-5EB8-A8E9-CC12-2D97D5199983}"/>
              </a:ext>
            </a:extLst>
          </p:cNvPr>
          <p:cNvSpPr/>
          <p:nvPr/>
        </p:nvSpPr>
        <p:spPr>
          <a:xfrm>
            <a:off x="5439387" y="4854199"/>
            <a:ext cx="264795" cy="226695"/>
          </a:xfrm>
          <a:prstGeom prst="diamond">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esquinas redondeadas 12">
            <a:extLst>
              <a:ext uri="{FF2B5EF4-FFF2-40B4-BE49-F238E27FC236}">
                <a16:creationId xmlns:a16="http://schemas.microsoft.com/office/drawing/2014/main" id="{2AA051A5-AC62-EDF2-2A3E-7BA6B761A1C6}"/>
              </a:ext>
            </a:extLst>
          </p:cNvPr>
          <p:cNvSpPr/>
          <p:nvPr/>
        </p:nvSpPr>
        <p:spPr>
          <a:xfrm>
            <a:off x="6144692" y="5509515"/>
            <a:ext cx="1135705" cy="559902"/>
          </a:xfrm>
          <a:prstGeom prst="roundRect">
            <a:avLst/>
          </a:prstGeom>
          <a:solidFill>
            <a:schemeClr val="tx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bg1"/>
                </a:solidFill>
                <a:latin typeface="Segoe UI" panose="020B0502040204020203" pitchFamily="34" charset="0"/>
                <a:cs typeface="Segoe UI" panose="020B0502040204020203" pitchFamily="34" charset="0"/>
              </a:rPr>
              <a:t>Other process actions</a:t>
            </a:r>
          </a:p>
        </p:txBody>
      </p:sp>
      <p:sp>
        <p:nvSpPr>
          <p:cNvPr id="14" name="CuadroTexto 13">
            <a:extLst>
              <a:ext uri="{FF2B5EF4-FFF2-40B4-BE49-F238E27FC236}">
                <a16:creationId xmlns:a16="http://schemas.microsoft.com/office/drawing/2014/main" id="{89CEAD0E-BBC6-E20E-F24D-C2C5C38E047B}"/>
              </a:ext>
            </a:extLst>
          </p:cNvPr>
          <p:cNvSpPr txBox="1"/>
          <p:nvPr/>
        </p:nvSpPr>
        <p:spPr>
          <a:xfrm>
            <a:off x="5465562" y="4498530"/>
            <a:ext cx="739130" cy="461665"/>
          </a:xfrm>
          <a:prstGeom prst="rect">
            <a:avLst/>
          </a:prstGeom>
          <a:noFill/>
        </p:spPr>
        <p:txBody>
          <a:bodyPr wrap="square">
            <a:spAutoFit/>
          </a:bodyPr>
          <a:lstStyle/>
          <a:p>
            <a:pPr algn="ctr"/>
            <a:r>
              <a:rPr lang="en-US" sz="800" noProof="0" dirty="0">
                <a:solidFill>
                  <a:schemeClr val="tx1"/>
                </a:solidFill>
                <a:latin typeface="Segoe UI" panose="020B0502040204020203" pitchFamily="34" charset="0"/>
                <a:cs typeface="Segoe UI" panose="020B0502040204020203" pitchFamily="34" charset="0"/>
              </a:rPr>
              <a:t>Is it priority and urgent lead?</a:t>
            </a:r>
          </a:p>
        </p:txBody>
      </p:sp>
      <p:sp>
        <p:nvSpPr>
          <p:cNvPr id="15" name="Rectángulo: esquinas redondeadas 14">
            <a:extLst>
              <a:ext uri="{FF2B5EF4-FFF2-40B4-BE49-F238E27FC236}">
                <a16:creationId xmlns:a16="http://schemas.microsoft.com/office/drawing/2014/main" id="{361DF2A3-C9AC-7F66-A2D6-15A5855C9877}"/>
              </a:ext>
            </a:extLst>
          </p:cNvPr>
          <p:cNvSpPr/>
          <p:nvPr/>
        </p:nvSpPr>
        <p:spPr>
          <a:xfrm>
            <a:off x="7723998" y="4687595"/>
            <a:ext cx="1135705" cy="559902"/>
          </a:xfrm>
          <a:prstGeom prst="roundRect">
            <a:avLst/>
          </a:prstGeom>
          <a:solidFill>
            <a:srgbClr val="92D05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latin typeface="Segoe UI" panose="020B0502040204020203" pitchFamily="34" charset="0"/>
                <a:cs typeface="Segoe UI" panose="020B0502040204020203" pitchFamily="34" charset="0"/>
              </a:rPr>
              <a:t>Summary and follow-up dashboard</a:t>
            </a:r>
          </a:p>
        </p:txBody>
      </p:sp>
      <p:cxnSp>
        <p:nvCxnSpPr>
          <p:cNvPr id="16" name="Conector recto de flecha 15">
            <a:extLst>
              <a:ext uri="{FF2B5EF4-FFF2-40B4-BE49-F238E27FC236}">
                <a16:creationId xmlns:a16="http://schemas.microsoft.com/office/drawing/2014/main" id="{9FCE9E2F-8178-8D50-0194-B2F2B87E6EB9}"/>
              </a:ext>
            </a:extLst>
          </p:cNvPr>
          <p:cNvCxnSpPr>
            <a:cxnSpLocks/>
            <a:stCxn id="9" idx="3"/>
            <a:endCxn id="10" idx="1"/>
          </p:cNvCxnSpPr>
          <p:nvPr/>
        </p:nvCxnSpPr>
        <p:spPr>
          <a:xfrm flipV="1">
            <a:off x="3386570" y="4967547"/>
            <a:ext cx="414044" cy="333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angular 16">
            <a:extLst>
              <a:ext uri="{FF2B5EF4-FFF2-40B4-BE49-F238E27FC236}">
                <a16:creationId xmlns:a16="http://schemas.microsoft.com/office/drawing/2014/main" id="{346D82C8-018D-AB2B-2912-B5DE3F955B37}"/>
              </a:ext>
            </a:extLst>
          </p:cNvPr>
          <p:cNvCxnSpPr>
            <a:cxnSpLocks/>
            <a:stCxn id="35" idx="3"/>
            <a:endCxn id="9" idx="1"/>
          </p:cNvCxnSpPr>
          <p:nvPr/>
        </p:nvCxnSpPr>
        <p:spPr>
          <a:xfrm flipH="1">
            <a:off x="2250865" y="2412049"/>
            <a:ext cx="1513542" cy="2558834"/>
          </a:xfrm>
          <a:prstGeom prst="bentConnector5">
            <a:avLst>
              <a:gd name="adj1" fmla="val -15104"/>
              <a:gd name="adj2" fmla="val 50000"/>
              <a:gd name="adj3" fmla="val 11510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071EBE47-2C7E-8101-2453-A585A0F81717}"/>
              </a:ext>
            </a:extLst>
          </p:cNvPr>
          <p:cNvCxnSpPr>
            <a:cxnSpLocks/>
            <a:stCxn id="10" idx="3"/>
            <a:endCxn id="12" idx="1"/>
          </p:cNvCxnSpPr>
          <p:nvPr/>
        </p:nvCxnSpPr>
        <p:spPr>
          <a:xfrm>
            <a:off x="4936319" y="4967547"/>
            <a:ext cx="503068"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4747FDA8-C2D1-05D3-4280-DE1F3AF10B2E}"/>
              </a:ext>
            </a:extLst>
          </p:cNvPr>
          <p:cNvCxnSpPr>
            <a:cxnSpLocks/>
            <a:stCxn id="12" idx="3"/>
            <a:endCxn id="11" idx="1"/>
          </p:cNvCxnSpPr>
          <p:nvPr/>
        </p:nvCxnSpPr>
        <p:spPr>
          <a:xfrm flipV="1">
            <a:off x="5704182" y="4967546"/>
            <a:ext cx="440510" cy="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angular 19">
            <a:extLst>
              <a:ext uri="{FF2B5EF4-FFF2-40B4-BE49-F238E27FC236}">
                <a16:creationId xmlns:a16="http://schemas.microsoft.com/office/drawing/2014/main" id="{B86F1E18-079E-A52F-DD88-A77F24260F38}"/>
              </a:ext>
            </a:extLst>
          </p:cNvPr>
          <p:cNvCxnSpPr>
            <a:cxnSpLocks/>
            <a:stCxn id="12" idx="2"/>
            <a:endCxn id="13" idx="1"/>
          </p:cNvCxnSpPr>
          <p:nvPr/>
        </p:nvCxnSpPr>
        <p:spPr>
          <a:xfrm rot="16200000" flipH="1">
            <a:off x="5503952" y="5148726"/>
            <a:ext cx="708572" cy="57290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r 20">
            <a:extLst>
              <a:ext uri="{FF2B5EF4-FFF2-40B4-BE49-F238E27FC236}">
                <a16:creationId xmlns:a16="http://schemas.microsoft.com/office/drawing/2014/main" id="{99885C40-6D5E-9C2D-4F29-027AAC324488}"/>
              </a:ext>
            </a:extLst>
          </p:cNvPr>
          <p:cNvCxnSpPr>
            <a:cxnSpLocks/>
            <a:stCxn id="13" idx="3"/>
            <a:endCxn id="15" idx="2"/>
          </p:cNvCxnSpPr>
          <p:nvPr/>
        </p:nvCxnSpPr>
        <p:spPr>
          <a:xfrm flipV="1">
            <a:off x="7280397" y="5247497"/>
            <a:ext cx="1011454" cy="54196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C6C1395E-E3D9-608A-2416-98BC1FFDF828}"/>
              </a:ext>
            </a:extLst>
          </p:cNvPr>
          <p:cNvCxnSpPr>
            <a:cxnSpLocks/>
            <a:stCxn id="11" idx="3"/>
            <a:endCxn id="15" idx="1"/>
          </p:cNvCxnSpPr>
          <p:nvPr/>
        </p:nvCxnSpPr>
        <p:spPr>
          <a:xfrm>
            <a:off x="7280397" y="4967546"/>
            <a:ext cx="443601"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27C0F642-0D3D-AE4C-BB10-572E377BF806}"/>
              </a:ext>
            </a:extLst>
          </p:cNvPr>
          <p:cNvCxnSpPr>
            <a:cxnSpLocks/>
            <a:stCxn id="15" idx="3"/>
            <a:endCxn id="8" idx="2"/>
          </p:cNvCxnSpPr>
          <p:nvPr/>
        </p:nvCxnSpPr>
        <p:spPr>
          <a:xfrm>
            <a:off x="8859703" y="4967546"/>
            <a:ext cx="383080"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A2B01F18-4662-2BE5-56DA-3B8C5B81C97F}"/>
              </a:ext>
            </a:extLst>
          </p:cNvPr>
          <p:cNvSpPr txBox="1"/>
          <p:nvPr/>
        </p:nvSpPr>
        <p:spPr>
          <a:xfrm>
            <a:off x="1744049" y="2051338"/>
            <a:ext cx="627120" cy="246221"/>
          </a:xfrm>
          <a:prstGeom prst="rect">
            <a:avLst/>
          </a:prstGeom>
          <a:noFill/>
        </p:spPr>
        <p:txBody>
          <a:bodyPr wrap="square">
            <a:spAutoFit/>
          </a:bodyPr>
          <a:lstStyle/>
          <a:p>
            <a:pPr algn="ctr"/>
            <a:r>
              <a:rPr lang="es-CL" sz="1000" dirty="0">
                <a:solidFill>
                  <a:schemeClr val="tx1"/>
                </a:solidFill>
                <a:latin typeface="Segoe UI" panose="020B0502040204020203" pitchFamily="34" charset="0"/>
                <a:cs typeface="Segoe UI" panose="020B0502040204020203" pitchFamily="34" charset="0"/>
              </a:rPr>
              <a:t>Start</a:t>
            </a:r>
          </a:p>
        </p:txBody>
      </p:sp>
      <p:sp>
        <p:nvSpPr>
          <p:cNvPr id="25" name="CuadroTexto 24">
            <a:extLst>
              <a:ext uri="{FF2B5EF4-FFF2-40B4-BE49-F238E27FC236}">
                <a16:creationId xmlns:a16="http://schemas.microsoft.com/office/drawing/2014/main" id="{B84B895D-FB08-DBB3-93DE-31818507A4E9}"/>
              </a:ext>
            </a:extLst>
          </p:cNvPr>
          <p:cNvSpPr txBox="1"/>
          <p:nvPr/>
        </p:nvSpPr>
        <p:spPr>
          <a:xfrm>
            <a:off x="9303304" y="4837435"/>
            <a:ext cx="627120" cy="246221"/>
          </a:xfrm>
          <a:prstGeom prst="rect">
            <a:avLst/>
          </a:prstGeom>
          <a:noFill/>
        </p:spPr>
        <p:txBody>
          <a:bodyPr wrap="square">
            <a:spAutoFit/>
          </a:bodyPr>
          <a:lstStyle/>
          <a:p>
            <a:pPr algn="ctr"/>
            <a:r>
              <a:rPr lang="es-CL" sz="1000" dirty="0">
                <a:solidFill>
                  <a:schemeClr val="tx1"/>
                </a:solidFill>
                <a:latin typeface="Segoe UI" panose="020B0502040204020203" pitchFamily="34" charset="0"/>
                <a:cs typeface="Segoe UI" panose="020B0502040204020203" pitchFamily="34" charset="0"/>
              </a:rPr>
              <a:t>End</a:t>
            </a:r>
          </a:p>
        </p:txBody>
      </p:sp>
      <p:pic>
        <p:nvPicPr>
          <p:cNvPr id="26" name="Gráfico 25" descr="Usuario con relleno sólido">
            <a:extLst>
              <a:ext uri="{FF2B5EF4-FFF2-40B4-BE49-F238E27FC236}">
                <a16:creationId xmlns:a16="http://schemas.microsoft.com/office/drawing/2014/main" id="{DDE8D290-C636-83E1-CF0C-68D18F2971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37974" y="2128739"/>
            <a:ext cx="396491" cy="396491"/>
          </a:xfrm>
          <a:prstGeom prst="rect">
            <a:avLst/>
          </a:prstGeom>
        </p:spPr>
      </p:pic>
      <p:sp>
        <p:nvSpPr>
          <p:cNvPr id="27" name="CuadroTexto 26">
            <a:extLst>
              <a:ext uri="{FF2B5EF4-FFF2-40B4-BE49-F238E27FC236}">
                <a16:creationId xmlns:a16="http://schemas.microsoft.com/office/drawing/2014/main" id="{727A503A-62FC-55B2-FB7D-66B984BF2ED2}"/>
              </a:ext>
            </a:extLst>
          </p:cNvPr>
          <p:cNvSpPr txBox="1"/>
          <p:nvPr/>
        </p:nvSpPr>
        <p:spPr>
          <a:xfrm>
            <a:off x="10480057" y="2200278"/>
            <a:ext cx="877824" cy="292388"/>
          </a:xfrm>
          <a:prstGeom prst="rect">
            <a:avLst/>
          </a:prstGeom>
          <a:noFill/>
        </p:spPr>
        <p:txBody>
          <a:bodyPr wrap="square">
            <a:spAutoFit/>
          </a:bodyPr>
          <a:lstStyle/>
          <a:p>
            <a:r>
              <a:rPr lang="es-CL" sz="1300" dirty="0">
                <a:latin typeface="Segoe UI" panose="020B0502040204020203" pitchFamily="34" charset="0"/>
                <a:cs typeface="Segoe UI" panose="020B0502040204020203" pitchFamily="34" charset="0"/>
              </a:rPr>
              <a:t>Users</a:t>
            </a:r>
            <a:endParaRPr lang="es-CL" sz="1300" dirty="0">
              <a:solidFill>
                <a:schemeClr val="tx1"/>
              </a:solidFill>
              <a:latin typeface="Segoe UI" panose="020B0502040204020203" pitchFamily="34" charset="0"/>
              <a:cs typeface="Segoe UI" panose="020B0502040204020203" pitchFamily="34" charset="0"/>
            </a:endParaRPr>
          </a:p>
        </p:txBody>
      </p:sp>
      <p:sp>
        <p:nvSpPr>
          <p:cNvPr id="28" name="Rectángulo 27">
            <a:extLst>
              <a:ext uri="{FF2B5EF4-FFF2-40B4-BE49-F238E27FC236}">
                <a16:creationId xmlns:a16="http://schemas.microsoft.com/office/drawing/2014/main" id="{336B147A-2E0A-8CE2-8964-82FCD1EAD42B}"/>
              </a:ext>
            </a:extLst>
          </p:cNvPr>
          <p:cNvSpPr/>
          <p:nvPr/>
        </p:nvSpPr>
        <p:spPr>
          <a:xfrm>
            <a:off x="550587" y="1445048"/>
            <a:ext cx="9379838" cy="48134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9" name="Rectángulo 28">
            <a:extLst>
              <a:ext uri="{FF2B5EF4-FFF2-40B4-BE49-F238E27FC236}">
                <a16:creationId xmlns:a16="http://schemas.microsoft.com/office/drawing/2014/main" id="{31AD7EF3-6335-5155-CE38-F7F229C40AC4}"/>
              </a:ext>
            </a:extLst>
          </p:cNvPr>
          <p:cNvSpPr/>
          <p:nvPr/>
        </p:nvSpPr>
        <p:spPr>
          <a:xfrm>
            <a:off x="971014" y="1445048"/>
            <a:ext cx="8959410" cy="48134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Rectángulo 29">
            <a:extLst>
              <a:ext uri="{FF2B5EF4-FFF2-40B4-BE49-F238E27FC236}">
                <a16:creationId xmlns:a16="http://schemas.microsoft.com/office/drawing/2014/main" id="{63DFD78F-8B3D-2410-3048-00EB5D1FBE70}"/>
              </a:ext>
            </a:extLst>
          </p:cNvPr>
          <p:cNvSpPr/>
          <p:nvPr/>
        </p:nvSpPr>
        <p:spPr>
          <a:xfrm>
            <a:off x="1202341" y="1445048"/>
            <a:ext cx="8728084" cy="48134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1" name="Rectángulo 30">
            <a:extLst>
              <a:ext uri="{FF2B5EF4-FFF2-40B4-BE49-F238E27FC236}">
                <a16:creationId xmlns:a16="http://schemas.microsoft.com/office/drawing/2014/main" id="{F889A8F2-747C-4528-8454-00731B9A6F9C}"/>
              </a:ext>
            </a:extLst>
          </p:cNvPr>
          <p:cNvSpPr/>
          <p:nvPr/>
        </p:nvSpPr>
        <p:spPr>
          <a:xfrm>
            <a:off x="971013" y="1445048"/>
            <a:ext cx="8959412" cy="26885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2" name="CuadroTexto 31">
            <a:extLst>
              <a:ext uri="{FF2B5EF4-FFF2-40B4-BE49-F238E27FC236}">
                <a16:creationId xmlns:a16="http://schemas.microsoft.com/office/drawing/2014/main" id="{FE1D623A-E641-C82B-5897-FAC783B16B2D}"/>
              </a:ext>
            </a:extLst>
          </p:cNvPr>
          <p:cNvSpPr txBox="1"/>
          <p:nvPr/>
        </p:nvSpPr>
        <p:spPr>
          <a:xfrm rot="16200000">
            <a:off x="-1585830" y="3749388"/>
            <a:ext cx="4710411" cy="307777"/>
          </a:xfrm>
          <a:prstGeom prst="rect">
            <a:avLst/>
          </a:prstGeom>
          <a:noFill/>
        </p:spPr>
        <p:txBody>
          <a:bodyPr wrap="square">
            <a:spAutoFit/>
          </a:bodyPr>
          <a:lstStyle/>
          <a:p>
            <a:pPr algn="ctr"/>
            <a:r>
              <a:rPr lang="en-US" sz="1400" dirty="0">
                <a:latin typeface="Segoe UI" panose="020B0502040204020203" pitchFamily="34" charset="0"/>
                <a:ea typeface="Ebrima" panose="02000000000000000000" pitchFamily="2" charset="0"/>
                <a:cs typeface="Segoe UI" panose="020B0502040204020203" pitchFamily="34" charset="0"/>
              </a:rPr>
              <a:t>Marketing Leads</a:t>
            </a:r>
            <a:endParaRPr lang="es-CL" sz="1400" dirty="0">
              <a:solidFill>
                <a:schemeClr val="tx1"/>
              </a:solidFill>
              <a:latin typeface="Segoe UI" panose="020B0502040204020203" pitchFamily="34" charset="0"/>
              <a:ea typeface="Ebrima" panose="02000000000000000000" pitchFamily="2" charset="0"/>
              <a:cs typeface="Segoe UI" panose="020B0502040204020203" pitchFamily="34" charset="0"/>
            </a:endParaRPr>
          </a:p>
        </p:txBody>
      </p:sp>
      <p:sp>
        <p:nvSpPr>
          <p:cNvPr id="35" name="Rectángulo: esquinas redondeadas 34">
            <a:extLst>
              <a:ext uri="{FF2B5EF4-FFF2-40B4-BE49-F238E27FC236}">
                <a16:creationId xmlns:a16="http://schemas.microsoft.com/office/drawing/2014/main" id="{EB6A3885-B451-0000-3BFC-1447E9068FEB}"/>
              </a:ext>
            </a:extLst>
          </p:cNvPr>
          <p:cNvSpPr/>
          <p:nvPr/>
        </p:nvSpPr>
        <p:spPr>
          <a:xfrm>
            <a:off x="2628702" y="2132098"/>
            <a:ext cx="1135705" cy="559902"/>
          </a:xfrm>
          <a:prstGeom prst="roundRect">
            <a:avLst/>
          </a:prstGeom>
          <a:solidFill>
            <a:srgbClr val="92D05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latin typeface="Segoe UI" panose="020B0502040204020203" pitchFamily="34" charset="0"/>
                <a:cs typeface="Segoe UI" panose="020B0502040204020203" pitchFamily="34" charset="0"/>
              </a:rPr>
              <a:t>Collect comments and interests</a:t>
            </a:r>
          </a:p>
        </p:txBody>
      </p:sp>
      <p:cxnSp>
        <p:nvCxnSpPr>
          <p:cNvPr id="36" name="Conector recto de flecha 35">
            <a:extLst>
              <a:ext uri="{FF2B5EF4-FFF2-40B4-BE49-F238E27FC236}">
                <a16:creationId xmlns:a16="http://schemas.microsoft.com/office/drawing/2014/main" id="{6C594D96-BDAF-E327-0D55-85DE387401B0}"/>
              </a:ext>
            </a:extLst>
          </p:cNvPr>
          <p:cNvCxnSpPr>
            <a:cxnSpLocks/>
            <a:stCxn id="7" idx="6"/>
            <a:endCxn id="35" idx="1"/>
          </p:cNvCxnSpPr>
          <p:nvPr/>
        </p:nvCxnSpPr>
        <p:spPr>
          <a:xfrm>
            <a:off x="2148833" y="2412049"/>
            <a:ext cx="479869"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7" name="Gráfico 36" descr="Usuario con relleno sólido">
            <a:extLst>
              <a:ext uri="{FF2B5EF4-FFF2-40B4-BE49-F238E27FC236}">
                <a16:creationId xmlns:a16="http://schemas.microsoft.com/office/drawing/2014/main" id="{20BB23A8-8E1F-F20B-7827-9E02D3DCFF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81080" y="1802805"/>
            <a:ext cx="283327" cy="283327"/>
          </a:xfrm>
          <a:prstGeom prst="rect">
            <a:avLst/>
          </a:prstGeom>
        </p:spPr>
      </p:pic>
      <p:pic>
        <p:nvPicPr>
          <p:cNvPr id="38" name="Picture 14" descr="Cómo usar los formularios de Google para hacer pruebas?">
            <a:extLst>
              <a:ext uri="{FF2B5EF4-FFF2-40B4-BE49-F238E27FC236}">
                <a16:creationId xmlns:a16="http://schemas.microsoft.com/office/drawing/2014/main" id="{B84FC331-7893-D3DE-6981-A665DAB1F6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7212" y="1638876"/>
            <a:ext cx="597929" cy="46553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2" descr="Google Sheets Logo and Symbol transparent PNG - StickPNG">
            <a:extLst>
              <a:ext uri="{FF2B5EF4-FFF2-40B4-BE49-F238E27FC236}">
                <a16:creationId xmlns:a16="http://schemas.microsoft.com/office/drawing/2014/main" id="{56A6A33F-62A9-707C-8D8F-B4595189AE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8708" y="4213118"/>
            <a:ext cx="461726" cy="42243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6" descr="Google Drive logo landscape transparent PNG - StickPNG">
            <a:extLst>
              <a:ext uri="{FF2B5EF4-FFF2-40B4-BE49-F238E27FC236}">
                <a16:creationId xmlns:a16="http://schemas.microsoft.com/office/drawing/2014/main" id="{011C5506-0250-3B18-19D2-674C3516E1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6524" y="4319923"/>
            <a:ext cx="823367" cy="22700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36" descr="Google App Script">
            <a:extLst>
              <a:ext uri="{FF2B5EF4-FFF2-40B4-BE49-F238E27FC236}">
                <a16:creationId xmlns:a16="http://schemas.microsoft.com/office/drawing/2014/main" id="{CFA077AC-4A98-EC06-DD19-AD2BD79A76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1394" y="4256042"/>
            <a:ext cx="447051" cy="33658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0" descr="Python logo and symbol, meaning, history, PNG">
            <a:extLst>
              <a:ext uri="{FF2B5EF4-FFF2-40B4-BE49-F238E27FC236}">
                <a16:creationId xmlns:a16="http://schemas.microsoft.com/office/drawing/2014/main" id="{0826BAFE-5130-C507-0648-8C5513F473A5}"/>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8243" b="25123"/>
          <a:stretch>
            <a:fillRect/>
          </a:stretch>
        </p:blipFill>
        <p:spPr bwMode="auto">
          <a:xfrm>
            <a:off x="3896625" y="4335914"/>
            <a:ext cx="548399" cy="194112"/>
          </a:xfrm>
          <a:prstGeom prst="rect">
            <a:avLst/>
          </a:prstGeom>
          <a:noFill/>
          <a:extLst>
            <a:ext uri="{909E8E84-426E-40DD-AFC4-6F175D3DCCD1}">
              <a14:hiddenFill xmlns:a14="http://schemas.microsoft.com/office/drawing/2010/main">
                <a:solidFill>
                  <a:srgbClr val="FFFFFF"/>
                </a:solidFill>
              </a14:hiddenFill>
            </a:ext>
          </a:extLst>
        </p:spPr>
      </p:pic>
      <p:pic>
        <p:nvPicPr>
          <p:cNvPr id="43" name="Gráfico 42" descr="Usuario con relleno sólido">
            <a:extLst>
              <a:ext uri="{FF2B5EF4-FFF2-40B4-BE49-F238E27FC236}">
                <a16:creationId xmlns:a16="http://schemas.microsoft.com/office/drawing/2014/main" id="{CAB5BB9B-688B-E567-70C3-47B30446BE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92602" y="4356866"/>
            <a:ext cx="283327" cy="283327"/>
          </a:xfrm>
          <a:prstGeom prst="rect">
            <a:avLst/>
          </a:prstGeom>
        </p:spPr>
      </p:pic>
      <p:pic>
        <p:nvPicPr>
          <p:cNvPr id="44" name="Picture 44" descr="Gestión de Versiones en Looker Studio - Nexeus Big Data Analytics">
            <a:extLst>
              <a:ext uri="{FF2B5EF4-FFF2-40B4-BE49-F238E27FC236}">
                <a16:creationId xmlns:a16="http://schemas.microsoft.com/office/drawing/2014/main" id="{9EB99345-B8E6-6055-9BEA-880C8714533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79059" y="4286229"/>
            <a:ext cx="686343" cy="41180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ChatGPT Logo - Chat gpt Icon on Green Background 21608795 Vector Art at  Vecteezy">
            <a:extLst>
              <a:ext uri="{FF2B5EF4-FFF2-40B4-BE49-F238E27FC236}">
                <a16:creationId xmlns:a16="http://schemas.microsoft.com/office/drawing/2014/main" id="{1740D882-72F7-D256-7B01-197164185BF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23492" y="4295606"/>
            <a:ext cx="268079" cy="26807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4" descr="Cómo usar los formularios de Google para hacer pruebas?">
            <a:extLst>
              <a:ext uri="{FF2B5EF4-FFF2-40B4-BE49-F238E27FC236}">
                <a16:creationId xmlns:a16="http://schemas.microsoft.com/office/drawing/2014/main" id="{AACAF2FD-00D8-10FE-1EA3-E1288F4A84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2908" y="2579242"/>
            <a:ext cx="534109" cy="4158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6" descr="Gmail new logo - Social media &amp; Logos Icons">
            <a:extLst>
              <a:ext uri="{FF2B5EF4-FFF2-40B4-BE49-F238E27FC236}">
                <a16:creationId xmlns:a16="http://schemas.microsoft.com/office/drawing/2014/main" id="{E8520CD2-22E9-F89B-6EEA-04DB7164A31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47802" y="4309201"/>
            <a:ext cx="297783" cy="297783"/>
          </a:xfrm>
          <a:prstGeom prst="rect">
            <a:avLst/>
          </a:prstGeom>
          <a:noFill/>
          <a:extLst>
            <a:ext uri="{909E8E84-426E-40DD-AFC4-6F175D3DCCD1}">
              <a14:hiddenFill xmlns:a14="http://schemas.microsoft.com/office/drawing/2010/main">
                <a:solidFill>
                  <a:srgbClr val="FFFFFF"/>
                </a:solidFill>
              </a14:hiddenFill>
            </a:ext>
          </a:extLst>
        </p:spPr>
      </p:pic>
      <p:pic>
        <p:nvPicPr>
          <p:cNvPr id="48" name="Gráfico 47" descr="Usuario con relleno sólido">
            <a:extLst>
              <a:ext uri="{FF2B5EF4-FFF2-40B4-BE49-F238E27FC236}">
                <a16:creationId xmlns:a16="http://schemas.microsoft.com/office/drawing/2014/main" id="{39F656C4-F6CB-0CBC-F51F-76D2B6D370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8870" y="5268477"/>
            <a:ext cx="283327" cy="283327"/>
          </a:xfrm>
          <a:prstGeom prst="rect">
            <a:avLst/>
          </a:prstGeom>
        </p:spPr>
      </p:pic>
      <p:pic>
        <p:nvPicPr>
          <p:cNvPr id="49" name="Picture 22" descr="Google Sheets Logo and Symbol transparent PNG - StickPNG">
            <a:extLst>
              <a:ext uri="{FF2B5EF4-FFF2-40B4-BE49-F238E27FC236}">
                <a16:creationId xmlns:a16="http://schemas.microsoft.com/office/drawing/2014/main" id="{5CC8771A-DDBF-DF77-CAF5-F8AF01A038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9821" y="3102776"/>
            <a:ext cx="534109" cy="48865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0" descr="Python logo and symbol, meaning, history, PNG">
            <a:extLst>
              <a:ext uri="{FF2B5EF4-FFF2-40B4-BE49-F238E27FC236}">
                <a16:creationId xmlns:a16="http://schemas.microsoft.com/office/drawing/2014/main" id="{1C5A6A76-7421-5076-2FD3-E791559E5CF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8243" b="25123"/>
          <a:stretch>
            <a:fillRect/>
          </a:stretch>
        </p:blipFill>
        <p:spPr bwMode="auto">
          <a:xfrm>
            <a:off x="10092780" y="3669197"/>
            <a:ext cx="774554" cy="27416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6" descr="Google App Script">
            <a:extLst>
              <a:ext uri="{FF2B5EF4-FFF2-40B4-BE49-F238E27FC236}">
                <a16:creationId xmlns:a16="http://schemas.microsoft.com/office/drawing/2014/main" id="{0279DF9C-5B4C-B374-C031-6747771C18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29465" y="4057937"/>
            <a:ext cx="606438" cy="45658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ChatGPT Logo - Chat gpt Icon on Green Background 21608795 Vector Art at  Vecteezy">
            <a:extLst>
              <a:ext uri="{FF2B5EF4-FFF2-40B4-BE49-F238E27FC236}">
                <a16:creationId xmlns:a16="http://schemas.microsoft.com/office/drawing/2014/main" id="{04408E73-6C51-F412-A85D-5AB4B43E583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148438" y="4694438"/>
            <a:ext cx="362301" cy="36230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4" descr="Gestión de Versiones en Looker Studio - Nexeus Big Data Analytics">
            <a:extLst>
              <a:ext uri="{FF2B5EF4-FFF2-40B4-BE49-F238E27FC236}">
                <a16:creationId xmlns:a16="http://schemas.microsoft.com/office/drawing/2014/main" id="{D0E5CE5A-C4CB-83BF-DB24-CB081469EBF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70834" y="5158912"/>
            <a:ext cx="768266" cy="460959"/>
          </a:xfrm>
          <a:prstGeom prst="rect">
            <a:avLst/>
          </a:prstGeom>
          <a:noFill/>
          <a:extLst>
            <a:ext uri="{909E8E84-426E-40DD-AFC4-6F175D3DCCD1}">
              <a14:hiddenFill xmlns:a14="http://schemas.microsoft.com/office/drawing/2010/main">
                <a:solidFill>
                  <a:srgbClr val="FFFFFF"/>
                </a:solidFill>
              </a14:hiddenFill>
            </a:ext>
          </a:extLst>
        </p:spPr>
      </p:pic>
      <p:sp>
        <p:nvSpPr>
          <p:cNvPr id="55" name="CuadroTexto 54">
            <a:extLst>
              <a:ext uri="{FF2B5EF4-FFF2-40B4-BE49-F238E27FC236}">
                <a16:creationId xmlns:a16="http://schemas.microsoft.com/office/drawing/2014/main" id="{E184F4AA-2EF2-0F34-0DB4-038C67E5D310}"/>
              </a:ext>
            </a:extLst>
          </p:cNvPr>
          <p:cNvSpPr txBox="1"/>
          <p:nvPr/>
        </p:nvSpPr>
        <p:spPr>
          <a:xfrm>
            <a:off x="10394599" y="2560766"/>
            <a:ext cx="877824" cy="492443"/>
          </a:xfrm>
          <a:prstGeom prst="rect">
            <a:avLst/>
          </a:prstGeom>
          <a:noFill/>
        </p:spPr>
        <p:txBody>
          <a:bodyPr wrap="square">
            <a:spAutoFit/>
          </a:bodyPr>
          <a:lstStyle/>
          <a:p>
            <a:pPr algn="ctr"/>
            <a:r>
              <a:rPr lang="es-CL" sz="1300" dirty="0">
                <a:latin typeface="Segoe UI" panose="020B0502040204020203" pitchFamily="34" charset="0"/>
                <a:cs typeface="Segoe UI" panose="020B0502040204020203" pitchFamily="34" charset="0"/>
              </a:rPr>
              <a:t>Google </a:t>
            </a:r>
          </a:p>
          <a:p>
            <a:pPr algn="ctr"/>
            <a:r>
              <a:rPr lang="es-CL" sz="1300" dirty="0">
                <a:latin typeface="Segoe UI" panose="020B0502040204020203" pitchFamily="34" charset="0"/>
                <a:cs typeface="Segoe UI" panose="020B0502040204020203" pitchFamily="34" charset="0"/>
              </a:rPr>
              <a:t>Forms</a:t>
            </a:r>
            <a:endParaRPr lang="es-CL" sz="1300" dirty="0">
              <a:solidFill>
                <a:schemeClr val="tx1"/>
              </a:solidFill>
              <a:latin typeface="Segoe UI" panose="020B0502040204020203" pitchFamily="34" charset="0"/>
              <a:cs typeface="Segoe UI" panose="020B0502040204020203" pitchFamily="34" charset="0"/>
            </a:endParaRPr>
          </a:p>
        </p:txBody>
      </p:sp>
      <p:sp>
        <p:nvSpPr>
          <p:cNvPr id="56" name="CuadroTexto 55">
            <a:extLst>
              <a:ext uri="{FF2B5EF4-FFF2-40B4-BE49-F238E27FC236}">
                <a16:creationId xmlns:a16="http://schemas.microsoft.com/office/drawing/2014/main" id="{1262E0A0-1306-972B-2466-3519DE3DA7B4}"/>
              </a:ext>
            </a:extLst>
          </p:cNvPr>
          <p:cNvSpPr txBox="1"/>
          <p:nvPr/>
        </p:nvSpPr>
        <p:spPr>
          <a:xfrm>
            <a:off x="10249962" y="3078425"/>
            <a:ext cx="1170075" cy="492443"/>
          </a:xfrm>
          <a:prstGeom prst="rect">
            <a:avLst/>
          </a:prstGeom>
          <a:noFill/>
        </p:spPr>
        <p:txBody>
          <a:bodyPr wrap="square">
            <a:spAutoFit/>
          </a:bodyPr>
          <a:lstStyle/>
          <a:p>
            <a:pPr algn="ctr"/>
            <a:r>
              <a:rPr lang="es-CL" sz="1300" dirty="0">
                <a:latin typeface="Segoe UI" panose="020B0502040204020203" pitchFamily="34" charset="0"/>
                <a:cs typeface="Segoe UI" panose="020B0502040204020203" pitchFamily="34" charset="0"/>
              </a:rPr>
              <a:t>Google </a:t>
            </a:r>
          </a:p>
          <a:p>
            <a:pPr algn="ctr"/>
            <a:r>
              <a:rPr lang="es-CL" sz="1300" dirty="0">
                <a:latin typeface="Segoe UI" panose="020B0502040204020203" pitchFamily="34" charset="0"/>
                <a:cs typeface="Segoe UI" panose="020B0502040204020203" pitchFamily="34" charset="0"/>
              </a:rPr>
              <a:t>Sheets</a:t>
            </a:r>
            <a:endParaRPr lang="es-CL" sz="1300" dirty="0">
              <a:solidFill>
                <a:schemeClr val="tx1"/>
              </a:solidFill>
              <a:latin typeface="Segoe UI" panose="020B0502040204020203" pitchFamily="34" charset="0"/>
              <a:cs typeface="Segoe UI" panose="020B0502040204020203" pitchFamily="34" charset="0"/>
            </a:endParaRPr>
          </a:p>
        </p:txBody>
      </p:sp>
      <p:sp>
        <p:nvSpPr>
          <p:cNvPr id="57" name="CuadroTexto 56">
            <a:extLst>
              <a:ext uri="{FF2B5EF4-FFF2-40B4-BE49-F238E27FC236}">
                <a16:creationId xmlns:a16="http://schemas.microsoft.com/office/drawing/2014/main" id="{83342456-5412-C120-2DC2-BD6A2C5A6CAE}"/>
              </a:ext>
            </a:extLst>
          </p:cNvPr>
          <p:cNvSpPr txBox="1"/>
          <p:nvPr/>
        </p:nvSpPr>
        <p:spPr>
          <a:xfrm>
            <a:off x="10880516" y="3629090"/>
            <a:ext cx="715408" cy="292388"/>
          </a:xfrm>
          <a:prstGeom prst="rect">
            <a:avLst/>
          </a:prstGeom>
          <a:noFill/>
        </p:spPr>
        <p:txBody>
          <a:bodyPr wrap="square">
            <a:spAutoFit/>
          </a:bodyPr>
          <a:lstStyle/>
          <a:p>
            <a:r>
              <a:rPr lang="es-CL" sz="1300" dirty="0">
                <a:latin typeface="Segoe UI" panose="020B0502040204020203" pitchFamily="34" charset="0"/>
                <a:cs typeface="Segoe UI" panose="020B0502040204020203" pitchFamily="34" charset="0"/>
              </a:rPr>
              <a:t>Python</a:t>
            </a:r>
            <a:endParaRPr lang="es-CL" sz="1300" dirty="0">
              <a:solidFill>
                <a:schemeClr val="tx1"/>
              </a:solidFill>
              <a:latin typeface="Segoe UI" panose="020B0502040204020203" pitchFamily="34" charset="0"/>
              <a:cs typeface="Segoe UI" panose="020B0502040204020203" pitchFamily="34" charset="0"/>
            </a:endParaRPr>
          </a:p>
        </p:txBody>
      </p:sp>
      <p:sp>
        <p:nvSpPr>
          <p:cNvPr id="58" name="CuadroTexto 57">
            <a:extLst>
              <a:ext uri="{FF2B5EF4-FFF2-40B4-BE49-F238E27FC236}">
                <a16:creationId xmlns:a16="http://schemas.microsoft.com/office/drawing/2014/main" id="{8227A42E-3BAA-38C0-B065-79525492C235}"/>
              </a:ext>
            </a:extLst>
          </p:cNvPr>
          <p:cNvSpPr txBox="1"/>
          <p:nvPr/>
        </p:nvSpPr>
        <p:spPr>
          <a:xfrm>
            <a:off x="10635903" y="4033597"/>
            <a:ext cx="1031867" cy="492443"/>
          </a:xfrm>
          <a:prstGeom prst="rect">
            <a:avLst/>
          </a:prstGeom>
          <a:noFill/>
        </p:spPr>
        <p:txBody>
          <a:bodyPr wrap="square">
            <a:spAutoFit/>
          </a:bodyPr>
          <a:lstStyle/>
          <a:p>
            <a:pPr algn="ctr"/>
            <a:r>
              <a:rPr lang="es-CL" sz="1300" dirty="0">
                <a:solidFill>
                  <a:schemeClr val="tx1"/>
                </a:solidFill>
                <a:latin typeface="Segoe UI" panose="020B0502040204020203" pitchFamily="34" charset="0"/>
                <a:cs typeface="Segoe UI" panose="020B0502040204020203" pitchFamily="34" charset="0"/>
              </a:rPr>
              <a:t>Google </a:t>
            </a:r>
          </a:p>
          <a:p>
            <a:pPr algn="ctr"/>
            <a:r>
              <a:rPr lang="es-CL" sz="1300" dirty="0">
                <a:solidFill>
                  <a:schemeClr val="tx1"/>
                </a:solidFill>
                <a:latin typeface="Segoe UI" panose="020B0502040204020203" pitchFamily="34" charset="0"/>
                <a:cs typeface="Segoe UI" panose="020B0502040204020203" pitchFamily="34" charset="0"/>
              </a:rPr>
              <a:t>App Script </a:t>
            </a:r>
          </a:p>
        </p:txBody>
      </p:sp>
      <p:sp>
        <p:nvSpPr>
          <p:cNvPr id="59" name="CuadroTexto 58">
            <a:extLst>
              <a:ext uri="{FF2B5EF4-FFF2-40B4-BE49-F238E27FC236}">
                <a16:creationId xmlns:a16="http://schemas.microsoft.com/office/drawing/2014/main" id="{C332F38D-4C57-C5EC-8226-7E34EB43B08D}"/>
              </a:ext>
            </a:extLst>
          </p:cNvPr>
          <p:cNvSpPr txBox="1"/>
          <p:nvPr/>
        </p:nvSpPr>
        <p:spPr>
          <a:xfrm>
            <a:off x="10301166" y="4613396"/>
            <a:ext cx="1457360" cy="492443"/>
          </a:xfrm>
          <a:prstGeom prst="rect">
            <a:avLst/>
          </a:prstGeom>
          <a:noFill/>
        </p:spPr>
        <p:txBody>
          <a:bodyPr wrap="square">
            <a:spAutoFit/>
          </a:bodyPr>
          <a:lstStyle/>
          <a:p>
            <a:pPr algn="ctr"/>
            <a:r>
              <a:rPr lang="es-CL" sz="1300" dirty="0">
                <a:solidFill>
                  <a:schemeClr val="tx1"/>
                </a:solidFill>
                <a:latin typeface="Segoe UI" panose="020B0502040204020203" pitchFamily="34" charset="0"/>
                <a:cs typeface="Segoe UI" panose="020B0502040204020203" pitchFamily="34" charset="0"/>
              </a:rPr>
              <a:t>API </a:t>
            </a:r>
          </a:p>
          <a:p>
            <a:pPr algn="ctr"/>
            <a:r>
              <a:rPr lang="es-CL" sz="1300" dirty="0">
                <a:solidFill>
                  <a:schemeClr val="tx1"/>
                </a:solidFill>
                <a:latin typeface="Segoe UI" panose="020B0502040204020203" pitchFamily="34" charset="0"/>
                <a:cs typeface="Segoe UI" panose="020B0502040204020203" pitchFamily="34" charset="0"/>
              </a:rPr>
              <a:t>Chat GPT</a:t>
            </a:r>
          </a:p>
        </p:txBody>
      </p:sp>
      <p:sp>
        <p:nvSpPr>
          <p:cNvPr id="60" name="CuadroTexto 59">
            <a:extLst>
              <a:ext uri="{FF2B5EF4-FFF2-40B4-BE49-F238E27FC236}">
                <a16:creationId xmlns:a16="http://schemas.microsoft.com/office/drawing/2014/main" id="{0EB69189-FA38-59E1-65D2-EABA4E50C043}"/>
              </a:ext>
            </a:extLst>
          </p:cNvPr>
          <p:cNvSpPr txBox="1"/>
          <p:nvPr/>
        </p:nvSpPr>
        <p:spPr>
          <a:xfrm>
            <a:off x="10499700" y="5158912"/>
            <a:ext cx="1258826" cy="692497"/>
          </a:xfrm>
          <a:prstGeom prst="rect">
            <a:avLst/>
          </a:prstGeom>
          <a:noFill/>
        </p:spPr>
        <p:txBody>
          <a:bodyPr wrap="square">
            <a:spAutoFit/>
          </a:bodyPr>
          <a:lstStyle/>
          <a:p>
            <a:pPr algn="ctr"/>
            <a:r>
              <a:rPr lang="es-CL" sz="1300" dirty="0">
                <a:solidFill>
                  <a:schemeClr val="tx1"/>
                </a:solidFill>
                <a:latin typeface="Segoe UI" panose="020B0502040204020203" pitchFamily="34" charset="0"/>
                <a:cs typeface="Segoe UI" panose="020B0502040204020203" pitchFamily="34" charset="0"/>
              </a:rPr>
              <a:t>Google </a:t>
            </a:r>
          </a:p>
          <a:p>
            <a:pPr algn="ctr"/>
            <a:r>
              <a:rPr lang="es-CL" sz="1300" dirty="0">
                <a:solidFill>
                  <a:schemeClr val="tx1"/>
                </a:solidFill>
                <a:latin typeface="Segoe UI" panose="020B0502040204020203" pitchFamily="34" charset="0"/>
                <a:cs typeface="Segoe UI" panose="020B0502040204020203" pitchFamily="34" charset="0"/>
              </a:rPr>
              <a:t>Looker </a:t>
            </a:r>
          </a:p>
          <a:p>
            <a:pPr algn="ctr"/>
            <a:r>
              <a:rPr lang="es-CL" sz="1300" dirty="0">
                <a:solidFill>
                  <a:schemeClr val="tx1"/>
                </a:solidFill>
                <a:latin typeface="Segoe UI" panose="020B0502040204020203" pitchFamily="34" charset="0"/>
                <a:cs typeface="Segoe UI" panose="020B0502040204020203" pitchFamily="34" charset="0"/>
              </a:rPr>
              <a:t>Studio</a:t>
            </a:r>
          </a:p>
        </p:txBody>
      </p:sp>
      <p:sp>
        <p:nvSpPr>
          <p:cNvPr id="61" name="CuadroTexto 60">
            <a:extLst>
              <a:ext uri="{FF2B5EF4-FFF2-40B4-BE49-F238E27FC236}">
                <a16:creationId xmlns:a16="http://schemas.microsoft.com/office/drawing/2014/main" id="{2535E15C-A40A-862D-53A5-228CEB83ED75}"/>
              </a:ext>
            </a:extLst>
          </p:cNvPr>
          <p:cNvSpPr txBox="1"/>
          <p:nvPr/>
        </p:nvSpPr>
        <p:spPr>
          <a:xfrm rot="16200000">
            <a:off x="-206652" y="4999711"/>
            <a:ext cx="2596179" cy="261610"/>
          </a:xfrm>
          <a:prstGeom prst="rect">
            <a:avLst/>
          </a:prstGeom>
          <a:noFill/>
        </p:spPr>
        <p:txBody>
          <a:bodyPr wrap="square">
            <a:spAutoFit/>
          </a:bodyPr>
          <a:lstStyle/>
          <a:p>
            <a:pPr algn="ctr"/>
            <a:r>
              <a:rPr lang="en-US" sz="1100" dirty="0">
                <a:solidFill>
                  <a:schemeClr val="tx1"/>
                </a:solidFill>
                <a:latin typeface="Segoe UI" panose="020B0502040204020203" pitchFamily="34" charset="0"/>
                <a:ea typeface="Ebrima" panose="02000000000000000000" pitchFamily="2" charset="0"/>
                <a:cs typeface="Segoe UI" panose="020B0502040204020203" pitchFamily="34" charset="0"/>
              </a:rPr>
              <a:t>Marketing Department</a:t>
            </a:r>
            <a:endParaRPr lang="es-CL" sz="1100" dirty="0">
              <a:solidFill>
                <a:schemeClr val="tx1"/>
              </a:solidFill>
              <a:latin typeface="Segoe UI" panose="020B0502040204020203" pitchFamily="34" charset="0"/>
              <a:ea typeface="Ebrima" panose="02000000000000000000" pitchFamily="2" charset="0"/>
              <a:cs typeface="Segoe UI" panose="020B0502040204020203" pitchFamily="34" charset="0"/>
            </a:endParaRPr>
          </a:p>
        </p:txBody>
      </p:sp>
      <p:sp>
        <p:nvSpPr>
          <p:cNvPr id="62" name="CuadroTexto 61">
            <a:extLst>
              <a:ext uri="{FF2B5EF4-FFF2-40B4-BE49-F238E27FC236}">
                <a16:creationId xmlns:a16="http://schemas.microsoft.com/office/drawing/2014/main" id="{BF7383A8-AAF5-6DBD-B28C-4E58B1349361}"/>
              </a:ext>
            </a:extLst>
          </p:cNvPr>
          <p:cNvSpPr txBox="1"/>
          <p:nvPr/>
        </p:nvSpPr>
        <p:spPr>
          <a:xfrm rot="16200000">
            <a:off x="-418057" y="2659360"/>
            <a:ext cx="3038072" cy="261610"/>
          </a:xfrm>
          <a:prstGeom prst="rect">
            <a:avLst/>
          </a:prstGeom>
          <a:noFill/>
        </p:spPr>
        <p:txBody>
          <a:bodyPr wrap="square">
            <a:spAutoFit/>
          </a:bodyPr>
          <a:lstStyle/>
          <a:p>
            <a:pPr algn="ctr"/>
            <a:r>
              <a:rPr lang="es-CL" sz="1100" noProof="0" dirty="0">
                <a:latin typeface="Segoe UI" panose="020B0502040204020203" pitchFamily="34" charset="0"/>
                <a:ea typeface="Ebrima" panose="02000000000000000000" pitchFamily="2" charset="0"/>
                <a:cs typeface="Segoe UI" panose="020B0502040204020203" pitchFamily="34" charset="0"/>
              </a:rPr>
              <a:t>Branches, Call Center and Other Channels</a:t>
            </a:r>
            <a:endParaRPr lang="es-CL" sz="1100" noProof="0" dirty="0">
              <a:solidFill>
                <a:schemeClr val="tx1"/>
              </a:solidFill>
              <a:latin typeface="Segoe UI" panose="020B0502040204020203" pitchFamily="34" charset="0"/>
              <a:ea typeface="Ebrima" panose="02000000000000000000" pitchFamily="2" charset="0"/>
              <a:cs typeface="Segoe UI" panose="020B0502040204020203" pitchFamily="34" charset="0"/>
            </a:endParaRPr>
          </a:p>
        </p:txBody>
      </p:sp>
      <p:sp>
        <p:nvSpPr>
          <p:cNvPr id="2" name="CuadroTexto 1">
            <a:extLst>
              <a:ext uri="{FF2B5EF4-FFF2-40B4-BE49-F238E27FC236}">
                <a16:creationId xmlns:a16="http://schemas.microsoft.com/office/drawing/2014/main" id="{D6FF69E9-ED88-902D-184B-1935DCE44BF8}"/>
              </a:ext>
            </a:extLst>
          </p:cNvPr>
          <p:cNvSpPr txBox="1"/>
          <p:nvPr/>
        </p:nvSpPr>
        <p:spPr>
          <a:xfrm>
            <a:off x="5633456" y="4999800"/>
            <a:ext cx="425719" cy="215444"/>
          </a:xfrm>
          <a:prstGeom prst="rect">
            <a:avLst/>
          </a:prstGeom>
          <a:noFill/>
        </p:spPr>
        <p:txBody>
          <a:bodyPr wrap="square">
            <a:spAutoFit/>
          </a:bodyPr>
          <a:lstStyle/>
          <a:p>
            <a:pPr algn="ctr"/>
            <a:r>
              <a:rPr lang="en-US" sz="800" noProof="0" dirty="0">
                <a:solidFill>
                  <a:schemeClr val="tx1"/>
                </a:solidFill>
                <a:latin typeface="Segoe UI" panose="020B0502040204020203" pitchFamily="34" charset="0"/>
                <a:cs typeface="Segoe UI" panose="020B0502040204020203" pitchFamily="34" charset="0"/>
              </a:rPr>
              <a:t>Yes</a:t>
            </a:r>
          </a:p>
        </p:txBody>
      </p:sp>
      <p:sp>
        <p:nvSpPr>
          <p:cNvPr id="3" name="CuadroTexto 2">
            <a:extLst>
              <a:ext uri="{FF2B5EF4-FFF2-40B4-BE49-F238E27FC236}">
                <a16:creationId xmlns:a16="http://schemas.microsoft.com/office/drawing/2014/main" id="{7FAA8B7D-A2D0-02DE-DBC4-EF06F9222B05}"/>
              </a:ext>
            </a:extLst>
          </p:cNvPr>
          <p:cNvSpPr txBox="1"/>
          <p:nvPr/>
        </p:nvSpPr>
        <p:spPr>
          <a:xfrm>
            <a:off x="5093582" y="5514831"/>
            <a:ext cx="425719" cy="215444"/>
          </a:xfrm>
          <a:prstGeom prst="rect">
            <a:avLst/>
          </a:prstGeom>
          <a:noFill/>
        </p:spPr>
        <p:txBody>
          <a:bodyPr wrap="square">
            <a:spAutoFit/>
          </a:bodyPr>
          <a:lstStyle/>
          <a:p>
            <a:pPr algn="ctr"/>
            <a:r>
              <a:rPr lang="en-US" sz="800" noProof="0" dirty="0">
                <a:solidFill>
                  <a:schemeClr val="tx1"/>
                </a:solidFill>
                <a:latin typeface="Segoe UI" panose="020B0502040204020203" pitchFamily="34" charset="0"/>
                <a:cs typeface="Segoe UI" panose="020B0502040204020203" pitchFamily="34" charset="0"/>
              </a:rPr>
              <a:t>No</a:t>
            </a:r>
          </a:p>
        </p:txBody>
      </p:sp>
      <p:pic>
        <p:nvPicPr>
          <p:cNvPr id="5" name="Picture 36" descr="Google App Script">
            <a:extLst>
              <a:ext uri="{FF2B5EF4-FFF2-40B4-BE49-F238E27FC236}">
                <a16:creationId xmlns:a16="http://schemas.microsoft.com/office/drawing/2014/main" id="{DF2776CE-101F-D009-555B-D3B3C26264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7035" y="4298286"/>
            <a:ext cx="447051" cy="336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611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500"/>
                                        <p:tgtEl>
                                          <p:spTgt spid="35"/>
                                        </p:tgtEl>
                                      </p:cBhvr>
                                    </p:animEffect>
                                  </p:childTnLst>
                                </p:cTn>
                              </p:par>
                              <p:par>
                                <p:cTn id="92" presetID="10" presetClass="entr" presetSubtype="0" fill="hold"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500"/>
                                        <p:tgtEl>
                                          <p:spTgt spid="36"/>
                                        </p:tgtEl>
                                      </p:cBhvr>
                                    </p:animEffect>
                                  </p:childTnLst>
                                </p:cTn>
                              </p:par>
                              <p:par>
                                <p:cTn id="95" presetID="10" presetClass="entr" presetSubtype="0" fill="hold" nodeType="withEffect">
                                  <p:stCondLst>
                                    <p:cond delay="0"/>
                                  </p:stCondLst>
                                  <p:childTnLst>
                                    <p:set>
                                      <p:cBhvr>
                                        <p:cTn id="96" dur="1" fill="hold">
                                          <p:stCondLst>
                                            <p:cond delay="0"/>
                                          </p:stCondLst>
                                        </p:cTn>
                                        <p:tgtEl>
                                          <p:spTgt spid="37"/>
                                        </p:tgtEl>
                                        <p:attrNameLst>
                                          <p:attrName>style.visibility</p:attrName>
                                        </p:attrNameLst>
                                      </p:cBhvr>
                                      <p:to>
                                        <p:strVal val="visible"/>
                                      </p:to>
                                    </p:set>
                                    <p:animEffect transition="in" filter="fade">
                                      <p:cBhvr>
                                        <p:cTn id="97" dur="500"/>
                                        <p:tgtEl>
                                          <p:spTgt spid="37"/>
                                        </p:tgtEl>
                                      </p:cBhvr>
                                    </p:animEffect>
                                  </p:childTnLst>
                                </p:cTn>
                              </p:par>
                              <p:par>
                                <p:cTn id="98" presetID="10" presetClass="entr" presetSubtype="0" fill="hold" nodeType="with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fade">
                                      <p:cBhvr>
                                        <p:cTn id="100" dur="500"/>
                                        <p:tgtEl>
                                          <p:spTgt spid="38"/>
                                        </p:tgtEl>
                                      </p:cBhvr>
                                    </p:animEffect>
                                  </p:childTnLst>
                                </p:cTn>
                              </p:par>
                              <p:par>
                                <p:cTn id="101" presetID="10" presetClass="entr" presetSubtype="0" fill="hold" nodeType="with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fade">
                                      <p:cBhvr>
                                        <p:cTn id="103" dur="500"/>
                                        <p:tgtEl>
                                          <p:spTgt spid="39"/>
                                        </p:tgtEl>
                                      </p:cBhvr>
                                    </p:animEffect>
                                  </p:childTnLst>
                                </p:cTn>
                              </p:par>
                              <p:par>
                                <p:cTn id="104" presetID="10" presetClass="entr" presetSubtype="0" fill="hold" nodeType="with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fade">
                                      <p:cBhvr>
                                        <p:cTn id="106" dur="500"/>
                                        <p:tgtEl>
                                          <p:spTgt spid="40"/>
                                        </p:tgtEl>
                                      </p:cBhvr>
                                    </p:animEffect>
                                  </p:childTnLst>
                                </p:cTn>
                              </p:par>
                              <p:par>
                                <p:cTn id="107" presetID="10" presetClass="entr" presetSubtype="0" fill="hold" nodeType="with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500"/>
                                        <p:tgtEl>
                                          <p:spTgt spid="41"/>
                                        </p:tgtEl>
                                      </p:cBhvr>
                                    </p:animEffect>
                                  </p:childTnLst>
                                </p:cTn>
                              </p:par>
                              <p:par>
                                <p:cTn id="110" presetID="10" presetClass="entr" presetSubtype="0" fill="hold" nodeType="withEffect">
                                  <p:stCondLst>
                                    <p:cond delay="0"/>
                                  </p:stCondLst>
                                  <p:childTnLst>
                                    <p:set>
                                      <p:cBhvr>
                                        <p:cTn id="111" dur="1" fill="hold">
                                          <p:stCondLst>
                                            <p:cond delay="0"/>
                                          </p:stCondLst>
                                        </p:cTn>
                                        <p:tgtEl>
                                          <p:spTgt spid="42"/>
                                        </p:tgtEl>
                                        <p:attrNameLst>
                                          <p:attrName>style.visibility</p:attrName>
                                        </p:attrNameLst>
                                      </p:cBhvr>
                                      <p:to>
                                        <p:strVal val="visible"/>
                                      </p:to>
                                    </p:set>
                                    <p:animEffect transition="in" filter="fade">
                                      <p:cBhvr>
                                        <p:cTn id="112" dur="500"/>
                                        <p:tgtEl>
                                          <p:spTgt spid="42"/>
                                        </p:tgtEl>
                                      </p:cBhvr>
                                    </p:animEffect>
                                  </p:childTnLst>
                                </p:cTn>
                              </p:par>
                              <p:par>
                                <p:cTn id="113" presetID="10" presetClass="entr" presetSubtype="0" fill="hold" nodeType="withEffect">
                                  <p:stCondLst>
                                    <p:cond delay="0"/>
                                  </p:stCondLst>
                                  <p:childTnLst>
                                    <p:set>
                                      <p:cBhvr>
                                        <p:cTn id="114" dur="1" fill="hold">
                                          <p:stCondLst>
                                            <p:cond delay="0"/>
                                          </p:stCondLst>
                                        </p:cTn>
                                        <p:tgtEl>
                                          <p:spTgt spid="43"/>
                                        </p:tgtEl>
                                        <p:attrNameLst>
                                          <p:attrName>style.visibility</p:attrName>
                                        </p:attrNameLst>
                                      </p:cBhvr>
                                      <p:to>
                                        <p:strVal val="visible"/>
                                      </p:to>
                                    </p:set>
                                    <p:animEffect transition="in" filter="fade">
                                      <p:cBhvr>
                                        <p:cTn id="115" dur="500"/>
                                        <p:tgtEl>
                                          <p:spTgt spid="43"/>
                                        </p:tgtEl>
                                      </p:cBhvr>
                                    </p:animEffect>
                                  </p:childTnLst>
                                </p:cTn>
                              </p:par>
                              <p:par>
                                <p:cTn id="116" presetID="10" presetClass="entr" presetSubtype="0" fill="hold" nodeType="withEffect">
                                  <p:stCondLst>
                                    <p:cond delay="0"/>
                                  </p:stCondLst>
                                  <p:childTnLst>
                                    <p:set>
                                      <p:cBhvr>
                                        <p:cTn id="117" dur="1" fill="hold">
                                          <p:stCondLst>
                                            <p:cond delay="0"/>
                                          </p:stCondLst>
                                        </p:cTn>
                                        <p:tgtEl>
                                          <p:spTgt spid="44"/>
                                        </p:tgtEl>
                                        <p:attrNameLst>
                                          <p:attrName>style.visibility</p:attrName>
                                        </p:attrNameLst>
                                      </p:cBhvr>
                                      <p:to>
                                        <p:strVal val="visible"/>
                                      </p:to>
                                    </p:set>
                                    <p:animEffect transition="in" filter="fade">
                                      <p:cBhvr>
                                        <p:cTn id="118" dur="500"/>
                                        <p:tgtEl>
                                          <p:spTgt spid="44"/>
                                        </p:tgtEl>
                                      </p:cBhvr>
                                    </p:animEffect>
                                  </p:childTnLst>
                                </p:cTn>
                              </p:par>
                              <p:par>
                                <p:cTn id="119" presetID="10" presetClass="entr" presetSubtype="0" fill="hold" nodeType="withEffect">
                                  <p:stCondLst>
                                    <p:cond delay="0"/>
                                  </p:stCondLst>
                                  <p:childTnLst>
                                    <p:set>
                                      <p:cBhvr>
                                        <p:cTn id="120" dur="1" fill="hold">
                                          <p:stCondLst>
                                            <p:cond delay="0"/>
                                          </p:stCondLst>
                                        </p:cTn>
                                        <p:tgtEl>
                                          <p:spTgt spid="45"/>
                                        </p:tgtEl>
                                        <p:attrNameLst>
                                          <p:attrName>style.visibility</p:attrName>
                                        </p:attrNameLst>
                                      </p:cBhvr>
                                      <p:to>
                                        <p:strVal val="visible"/>
                                      </p:to>
                                    </p:set>
                                    <p:animEffect transition="in" filter="fade">
                                      <p:cBhvr>
                                        <p:cTn id="121" dur="500"/>
                                        <p:tgtEl>
                                          <p:spTgt spid="45"/>
                                        </p:tgtEl>
                                      </p:cBhvr>
                                    </p:animEffect>
                                  </p:childTnLst>
                                </p:cTn>
                              </p:par>
                              <p:par>
                                <p:cTn id="122" presetID="10" presetClass="entr" presetSubtype="0" fill="hold" nodeType="withEffect">
                                  <p:stCondLst>
                                    <p:cond delay="0"/>
                                  </p:stCondLst>
                                  <p:childTnLst>
                                    <p:set>
                                      <p:cBhvr>
                                        <p:cTn id="123" dur="1" fill="hold">
                                          <p:stCondLst>
                                            <p:cond delay="0"/>
                                          </p:stCondLst>
                                        </p:cTn>
                                        <p:tgtEl>
                                          <p:spTgt spid="46"/>
                                        </p:tgtEl>
                                        <p:attrNameLst>
                                          <p:attrName>style.visibility</p:attrName>
                                        </p:attrNameLst>
                                      </p:cBhvr>
                                      <p:to>
                                        <p:strVal val="visible"/>
                                      </p:to>
                                    </p:set>
                                    <p:animEffect transition="in" filter="fade">
                                      <p:cBhvr>
                                        <p:cTn id="124" dur="500"/>
                                        <p:tgtEl>
                                          <p:spTgt spid="46"/>
                                        </p:tgtEl>
                                      </p:cBhvr>
                                    </p:animEffect>
                                  </p:childTnLst>
                                </p:cTn>
                              </p:par>
                              <p:par>
                                <p:cTn id="125" presetID="10" presetClass="entr" presetSubtype="0" fill="hold" nodeType="withEffect">
                                  <p:stCondLst>
                                    <p:cond delay="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7" dur="500"/>
                                        <p:tgtEl>
                                          <p:spTgt spid="47"/>
                                        </p:tgtEl>
                                      </p:cBhvr>
                                    </p:animEffect>
                                  </p:childTnLst>
                                </p:cTn>
                              </p:par>
                              <p:par>
                                <p:cTn id="128" presetID="10" presetClass="entr" presetSubtype="0" fill="hold" nodeType="withEffect">
                                  <p:stCondLst>
                                    <p:cond delay="0"/>
                                  </p:stCondLst>
                                  <p:childTnLst>
                                    <p:set>
                                      <p:cBhvr>
                                        <p:cTn id="129" dur="1" fill="hold">
                                          <p:stCondLst>
                                            <p:cond delay="0"/>
                                          </p:stCondLst>
                                        </p:cTn>
                                        <p:tgtEl>
                                          <p:spTgt spid="48"/>
                                        </p:tgtEl>
                                        <p:attrNameLst>
                                          <p:attrName>style.visibility</p:attrName>
                                        </p:attrNameLst>
                                      </p:cBhvr>
                                      <p:to>
                                        <p:strVal val="visible"/>
                                      </p:to>
                                    </p:set>
                                    <p:animEffect transition="in" filter="fade">
                                      <p:cBhvr>
                                        <p:cTn id="130" dur="500"/>
                                        <p:tgtEl>
                                          <p:spTgt spid="48"/>
                                        </p:tgtEl>
                                      </p:cBhvr>
                                    </p:animEffect>
                                  </p:childTnLst>
                                </p:cTn>
                              </p:par>
                              <p:par>
                                <p:cTn id="131" presetID="10" presetClass="entr" presetSubtype="0" fill="hold" nodeType="withEffect">
                                  <p:stCondLst>
                                    <p:cond delay="0"/>
                                  </p:stCondLst>
                                  <p:childTnLst>
                                    <p:set>
                                      <p:cBhvr>
                                        <p:cTn id="132" dur="1" fill="hold">
                                          <p:stCondLst>
                                            <p:cond delay="0"/>
                                          </p:stCondLst>
                                        </p:cTn>
                                        <p:tgtEl>
                                          <p:spTgt spid="49"/>
                                        </p:tgtEl>
                                        <p:attrNameLst>
                                          <p:attrName>style.visibility</p:attrName>
                                        </p:attrNameLst>
                                      </p:cBhvr>
                                      <p:to>
                                        <p:strVal val="visible"/>
                                      </p:to>
                                    </p:set>
                                    <p:animEffect transition="in" filter="fade">
                                      <p:cBhvr>
                                        <p:cTn id="133" dur="500"/>
                                        <p:tgtEl>
                                          <p:spTgt spid="49"/>
                                        </p:tgtEl>
                                      </p:cBhvr>
                                    </p:animEffect>
                                  </p:childTnLst>
                                </p:cTn>
                              </p:par>
                              <p:par>
                                <p:cTn id="134" presetID="10" presetClass="entr" presetSubtype="0" fill="hold" nodeType="withEffect">
                                  <p:stCondLst>
                                    <p:cond delay="0"/>
                                  </p:stCondLst>
                                  <p:childTnLst>
                                    <p:set>
                                      <p:cBhvr>
                                        <p:cTn id="135" dur="1" fill="hold">
                                          <p:stCondLst>
                                            <p:cond delay="0"/>
                                          </p:stCondLst>
                                        </p:cTn>
                                        <p:tgtEl>
                                          <p:spTgt spid="50"/>
                                        </p:tgtEl>
                                        <p:attrNameLst>
                                          <p:attrName>style.visibility</p:attrName>
                                        </p:attrNameLst>
                                      </p:cBhvr>
                                      <p:to>
                                        <p:strVal val="visible"/>
                                      </p:to>
                                    </p:set>
                                    <p:animEffect transition="in" filter="fade">
                                      <p:cBhvr>
                                        <p:cTn id="136" dur="500"/>
                                        <p:tgtEl>
                                          <p:spTgt spid="50"/>
                                        </p:tgtEl>
                                      </p:cBhvr>
                                    </p:animEffect>
                                  </p:childTnLst>
                                </p:cTn>
                              </p:par>
                              <p:par>
                                <p:cTn id="137" presetID="10" presetClass="entr" presetSubtype="0" fill="hold" nodeType="withEffect">
                                  <p:stCondLst>
                                    <p:cond delay="0"/>
                                  </p:stCondLst>
                                  <p:childTnLst>
                                    <p:set>
                                      <p:cBhvr>
                                        <p:cTn id="138" dur="1" fill="hold">
                                          <p:stCondLst>
                                            <p:cond delay="0"/>
                                          </p:stCondLst>
                                        </p:cTn>
                                        <p:tgtEl>
                                          <p:spTgt spid="51"/>
                                        </p:tgtEl>
                                        <p:attrNameLst>
                                          <p:attrName>style.visibility</p:attrName>
                                        </p:attrNameLst>
                                      </p:cBhvr>
                                      <p:to>
                                        <p:strVal val="visible"/>
                                      </p:to>
                                    </p:set>
                                    <p:animEffect transition="in" filter="fade">
                                      <p:cBhvr>
                                        <p:cTn id="139" dur="500"/>
                                        <p:tgtEl>
                                          <p:spTgt spid="51"/>
                                        </p:tgtEl>
                                      </p:cBhvr>
                                    </p:animEffect>
                                  </p:childTnLst>
                                </p:cTn>
                              </p:par>
                              <p:par>
                                <p:cTn id="140" presetID="10" presetClass="entr" presetSubtype="0" fill="hold" nodeType="withEffect">
                                  <p:stCondLst>
                                    <p:cond delay="0"/>
                                  </p:stCondLst>
                                  <p:childTnLst>
                                    <p:set>
                                      <p:cBhvr>
                                        <p:cTn id="141" dur="1" fill="hold">
                                          <p:stCondLst>
                                            <p:cond delay="0"/>
                                          </p:stCondLst>
                                        </p:cTn>
                                        <p:tgtEl>
                                          <p:spTgt spid="52"/>
                                        </p:tgtEl>
                                        <p:attrNameLst>
                                          <p:attrName>style.visibility</p:attrName>
                                        </p:attrNameLst>
                                      </p:cBhvr>
                                      <p:to>
                                        <p:strVal val="visible"/>
                                      </p:to>
                                    </p:set>
                                    <p:animEffect transition="in" filter="fade">
                                      <p:cBhvr>
                                        <p:cTn id="142" dur="500"/>
                                        <p:tgtEl>
                                          <p:spTgt spid="52"/>
                                        </p:tgtEl>
                                      </p:cBhvr>
                                    </p:animEffect>
                                  </p:childTnLst>
                                </p:cTn>
                              </p:par>
                              <p:par>
                                <p:cTn id="143" presetID="10" presetClass="entr" presetSubtype="0" fill="hold" nodeType="withEffect">
                                  <p:stCondLst>
                                    <p:cond delay="0"/>
                                  </p:stCondLst>
                                  <p:childTnLst>
                                    <p:set>
                                      <p:cBhvr>
                                        <p:cTn id="144" dur="1" fill="hold">
                                          <p:stCondLst>
                                            <p:cond delay="0"/>
                                          </p:stCondLst>
                                        </p:cTn>
                                        <p:tgtEl>
                                          <p:spTgt spid="53"/>
                                        </p:tgtEl>
                                        <p:attrNameLst>
                                          <p:attrName>style.visibility</p:attrName>
                                        </p:attrNameLst>
                                      </p:cBhvr>
                                      <p:to>
                                        <p:strVal val="visible"/>
                                      </p:to>
                                    </p:set>
                                    <p:animEffect transition="in" filter="fade">
                                      <p:cBhvr>
                                        <p:cTn id="145" dur="500"/>
                                        <p:tgtEl>
                                          <p:spTgt spid="5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500"/>
                                        <p:tgtEl>
                                          <p:spTgt spid="55"/>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6"/>
                                        </p:tgtEl>
                                        <p:attrNameLst>
                                          <p:attrName>style.visibility</p:attrName>
                                        </p:attrNameLst>
                                      </p:cBhvr>
                                      <p:to>
                                        <p:strVal val="visible"/>
                                      </p:to>
                                    </p:set>
                                    <p:animEffect transition="in" filter="fade">
                                      <p:cBhvr>
                                        <p:cTn id="151" dur="500"/>
                                        <p:tgtEl>
                                          <p:spTgt spid="56"/>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7"/>
                                        </p:tgtEl>
                                        <p:attrNameLst>
                                          <p:attrName>style.visibility</p:attrName>
                                        </p:attrNameLst>
                                      </p:cBhvr>
                                      <p:to>
                                        <p:strVal val="visible"/>
                                      </p:to>
                                    </p:set>
                                    <p:animEffect transition="in" filter="fade">
                                      <p:cBhvr>
                                        <p:cTn id="154" dur="500"/>
                                        <p:tgtEl>
                                          <p:spTgt spid="57"/>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500"/>
                                        <p:tgtEl>
                                          <p:spTgt spid="58"/>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5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500"/>
                                        <p:tgtEl>
                                          <p:spTgt spid="60"/>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5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500"/>
                                        <p:tgtEl>
                                          <p:spTgt spid="62"/>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2"/>
                                        </p:tgtEl>
                                        <p:attrNameLst>
                                          <p:attrName>style.visibility</p:attrName>
                                        </p:attrNameLst>
                                      </p:cBhvr>
                                      <p:to>
                                        <p:strVal val="visible"/>
                                      </p:to>
                                    </p:set>
                                    <p:animEffect transition="in" filter="fade">
                                      <p:cBhvr>
                                        <p:cTn id="172" dur="500"/>
                                        <p:tgtEl>
                                          <p:spTgt spid="2"/>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3"/>
                                        </p:tgtEl>
                                        <p:attrNameLst>
                                          <p:attrName>style.visibility</p:attrName>
                                        </p:attrNameLst>
                                      </p:cBhvr>
                                      <p:to>
                                        <p:strVal val="visible"/>
                                      </p:to>
                                    </p:set>
                                    <p:animEffect transition="in" filter="fade">
                                      <p:cBhvr>
                                        <p:cTn id="175" dur="500"/>
                                        <p:tgtEl>
                                          <p:spTgt spid="3"/>
                                        </p:tgtEl>
                                      </p:cBhvr>
                                    </p:animEffect>
                                  </p:childTnLst>
                                </p:cTn>
                              </p:par>
                              <p:par>
                                <p:cTn id="176" presetID="10" presetClass="entr" presetSubtype="0" fill="hold" nodeType="withEffect">
                                  <p:stCondLst>
                                    <p:cond delay="0"/>
                                  </p:stCondLst>
                                  <p:childTnLst>
                                    <p:set>
                                      <p:cBhvr>
                                        <p:cTn id="177" dur="1" fill="hold">
                                          <p:stCondLst>
                                            <p:cond delay="0"/>
                                          </p:stCondLst>
                                        </p:cTn>
                                        <p:tgtEl>
                                          <p:spTgt spid="5"/>
                                        </p:tgtEl>
                                        <p:attrNameLst>
                                          <p:attrName>style.visibility</p:attrName>
                                        </p:attrNameLst>
                                      </p:cBhvr>
                                      <p:to>
                                        <p:strVal val="visible"/>
                                      </p:to>
                                    </p:set>
                                    <p:animEffect transition="in" filter="fade">
                                      <p:cBhvr>
                                        <p:cTn id="17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animBg="1"/>
      <p:bldP spid="8" grpId="0" animBg="1"/>
      <p:bldP spid="9" grpId="0" animBg="1"/>
      <p:bldP spid="10" grpId="0" animBg="1"/>
      <p:bldP spid="11" grpId="0" animBg="1"/>
      <p:bldP spid="12" grpId="0" animBg="1"/>
      <p:bldP spid="13" grpId="0" animBg="1"/>
      <p:bldP spid="14" grpId="0"/>
      <p:bldP spid="15" grpId="0" animBg="1"/>
      <p:bldP spid="24" grpId="0"/>
      <p:bldP spid="25" grpId="0"/>
      <p:bldP spid="27" grpId="0"/>
      <p:bldP spid="28" grpId="0" animBg="1"/>
      <p:bldP spid="29" grpId="0" animBg="1"/>
      <p:bldP spid="30" grpId="0" animBg="1"/>
      <p:bldP spid="31" grpId="0" animBg="1"/>
      <p:bldP spid="32" grpId="0"/>
      <p:bldP spid="35" grpId="0" animBg="1"/>
      <p:bldP spid="55" grpId="0"/>
      <p:bldP spid="56" grpId="0"/>
      <p:bldP spid="57" grpId="0"/>
      <p:bldP spid="58" grpId="0"/>
      <p:bldP spid="59" grpId="0"/>
      <p:bldP spid="60" grpId="0"/>
      <p:bldP spid="61" grpId="0"/>
      <p:bldP spid="62" grpId="0"/>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a:extLst>
            <a:ext uri="{FF2B5EF4-FFF2-40B4-BE49-F238E27FC236}">
              <a16:creationId xmlns:a16="http://schemas.microsoft.com/office/drawing/2014/main" id="{3B31575B-56F4-DB42-7C05-0FE751927424}"/>
            </a:ext>
          </a:extLst>
        </p:cNvPr>
        <p:cNvGrpSpPr/>
        <p:nvPr/>
      </p:nvGrpSpPr>
      <p:grpSpPr>
        <a:xfrm>
          <a:off x="0" y="0"/>
          <a:ext cx="0" cy="0"/>
          <a:chOff x="0" y="0"/>
          <a:chExt cx="0" cy="0"/>
        </a:xfrm>
      </p:grpSpPr>
      <p:sp>
        <p:nvSpPr>
          <p:cNvPr id="8" name="CuadroTexto 17">
            <a:extLst>
              <a:ext uri="{FF2B5EF4-FFF2-40B4-BE49-F238E27FC236}">
                <a16:creationId xmlns:a16="http://schemas.microsoft.com/office/drawing/2014/main" id="{4605D061-4420-6E53-AA6D-4656073BFB85}"/>
              </a:ext>
            </a:extLst>
          </p:cNvPr>
          <p:cNvSpPr txBox="1"/>
          <p:nvPr/>
        </p:nvSpPr>
        <p:spPr>
          <a:xfrm>
            <a:off x="4110333" y="3075057"/>
            <a:ext cx="3971332" cy="707886"/>
          </a:xfrm>
          <a:prstGeom prst="rect">
            <a:avLst/>
          </a:prstGeom>
          <a:noFill/>
        </p:spPr>
        <p:txBody>
          <a:bodyPr wrap="square" rtlCol="0">
            <a:spAutoFit/>
          </a:bodyPr>
          <a:lstStyle>
            <a:defPPr>
              <a:defRPr lang="en-US"/>
            </a:defPPr>
            <a:lvl1pPr algn="ctr">
              <a:defRPr sz="4000" b="1">
                <a:latin typeface="Brandon Grotesque Bold" panose="020B0803020203060202" pitchFamily="34" charset="0"/>
                <a:cs typeface="Segoe UI Semilight" panose="020B0402040204020203" pitchFamily="34" charset="0"/>
              </a:defRPr>
            </a:lvl1pPr>
          </a:lstStyle>
          <a:p>
            <a:r>
              <a:rPr lang="es-ES_tradnl" dirty="0"/>
              <a:t>LIVE DEMO</a:t>
            </a:r>
          </a:p>
        </p:txBody>
      </p:sp>
    </p:spTree>
    <p:extLst>
      <p:ext uri="{BB962C8B-B14F-4D97-AF65-F5344CB8AC3E}">
        <p14:creationId xmlns:p14="http://schemas.microsoft.com/office/powerpoint/2010/main" val="193529298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75B0B98-FF28-B6E5-563F-56FDD446655F}"/>
              </a:ext>
            </a:extLst>
          </p:cNvPr>
          <p:cNvSpPr txBox="1"/>
          <p:nvPr/>
        </p:nvSpPr>
        <p:spPr>
          <a:xfrm>
            <a:off x="413258" y="374585"/>
            <a:ext cx="6576822" cy="507831"/>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sz="2700" b="1">
                <a:latin typeface="Brandon Grotesque Bold" panose="020B0803020203060202" pitchFamily="34" charset="0"/>
                <a:cs typeface="Segoe UI Semilight" panose="020B0402040204020203" pitchFamily="34" charset="0"/>
              </a:defRPr>
            </a:lvl1pPr>
          </a:lstStyle>
          <a:p>
            <a:r>
              <a:rPr lang="es-AR" dirty="0"/>
              <a:t>NEXT STEPS AND RECOMMENDATIONS</a:t>
            </a:r>
          </a:p>
        </p:txBody>
      </p:sp>
      <p:sp>
        <p:nvSpPr>
          <p:cNvPr id="7" name="CuadroTexto 6">
            <a:extLst>
              <a:ext uri="{FF2B5EF4-FFF2-40B4-BE49-F238E27FC236}">
                <a16:creationId xmlns:a16="http://schemas.microsoft.com/office/drawing/2014/main" id="{6D866D91-731C-0F0B-E08E-E2EFB7B98F03}"/>
              </a:ext>
            </a:extLst>
          </p:cNvPr>
          <p:cNvSpPr txBox="1"/>
          <p:nvPr/>
        </p:nvSpPr>
        <p:spPr>
          <a:xfrm>
            <a:off x="594360" y="1387684"/>
            <a:ext cx="10840720" cy="4401205"/>
          </a:xfrm>
          <a:prstGeom prst="rect">
            <a:avLst/>
          </a:prstGeom>
          <a:noFill/>
        </p:spPr>
        <p:txBody>
          <a:bodyPr wrap="square">
            <a:spAutoFit/>
          </a:bodyPr>
          <a:lstStyle/>
          <a:p>
            <a:pPr marL="182563" indent="-182563">
              <a:buFont typeface="Arial" panose="020B0604020202020204" pitchFamily="34" charset="0"/>
              <a:buChar char="•"/>
            </a:pPr>
            <a:r>
              <a:rPr lang="en-US" sz="2000" dirty="0">
                <a:latin typeface="Segoe UI" panose="020B0502040204020203" pitchFamily="34" charset="0"/>
                <a:cs typeface="Segoe UI" panose="020B0502040204020203" pitchFamily="34" charset="0"/>
              </a:rPr>
              <a:t>Explore new customer communication channels, such as integrating WhatsApp or similar platforms into the process flow to enhance mid-point interactions.</a:t>
            </a:r>
          </a:p>
          <a:p>
            <a:pPr marL="182563" indent="-182563">
              <a:buFont typeface="Arial" panose="020B0604020202020204" pitchFamily="34" charset="0"/>
              <a:buChar char="•"/>
            </a:pPr>
            <a:endParaRPr lang="en-US" sz="2000" dirty="0">
              <a:latin typeface="Segoe UI" panose="020B0502040204020203" pitchFamily="34" charset="0"/>
              <a:cs typeface="Segoe UI" panose="020B0502040204020203" pitchFamily="34" charset="0"/>
            </a:endParaRPr>
          </a:p>
          <a:p>
            <a:pPr marL="182563" indent="-182563">
              <a:buFont typeface="Arial" panose="020B0604020202020204" pitchFamily="34" charset="0"/>
              <a:buChar char="•"/>
            </a:pPr>
            <a:r>
              <a:rPr lang="en-US" sz="2000" dirty="0">
                <a:latin typeface="Segoe UI" panose="020B0502040204020203" pitchFamily="34" charset="0"/>
                <a:cs typeface="Segoe UI" panose="020B0502040204020203" pitchFamily="34" charset="0"/>
              </a:rPr>
              <a:t>Scale sentiment analysis techniques to handle more complex scenarios with greater efficiency and accuracy.</a:t>
            </a:r>
          </a:p>
          <a:p>
            <a:pPr marL="182563" indent="-182563">
              <a:buFont typeface="Arial" panose="020B0604020202020204" pitchFamily="34" charset="0"/>
              <a:buChar char="•"/>
            </a:pPr>
            <a:endParaRPr lang="en-US" sz="2000" dirty="0">
              <a:latin typeface="Segoe UI" panose="020B0502040204020203" pitchFamily="34" charset="0"/>
              <a:cs typeface="Segoe UI" panose="020B0502040204020203" pitchFamily="34" charset="0"/>
            </a:endParaRPr>
          </a:p>
          <a:p>
            <a:pPr marL="182563" indent="-182563">
              <a:buFont typeface="Arial" panose="020B0604020202020204" pitchFamily="34" charset="0"/>
              <a:buChar char="•"/>
            </a:pPr>
            <a:r>
              <a:rPr lang="en-US" sz="2000" dirty="0">
                <a:latin typeface="Segoe UI" panose="020B0502040204020203" pitchFamily="34" charset="0"/>
                <a:cs typeface="Segoe UI" panose="020B0502040204020203" pitchFamily="34" charset="0"/>
              </a:rPr>
              <a:t>Continuously improve the forms based on feedback from both customers and internal staff to ensure better data quality and easier downstream processing.</a:t>
            </a:r>
          </a:p>
          <a:p>
            <a:pPr marL="182563" indent="-182563">
              <a:buFont typeface="Arial" panose="020B0604020202020204" pitchFamily="34" charset="0"/>
              <a:buChar char="•"/>
            </a:pPr>
            <a:endParaRPr lang="en-US" sz="2000" dirty="0">
              <a:latin typeface="Segoe UI" panose="020B0502040204020203" pitchFamily="34" charset="0"/>
              <a:cs typeface="Segoe UI" panose="020B0502040204020203" pitchFamily="34" charset="0"/>
            </a:endParaRPr>
          </a:p>
          <a:p>
            <a:pPr marL="182563" indent="-182563">
              <a:buFont typeface="Arial" panose="020B0604020202020204" pitchFamily="34" charset="0"/>
              <a:buChar char="•"/>
            </a:pPr>
            <a:r>
              <a:rPr lang="en-US" sz="2000" dirty="0">
                <a:latin typeface="Segoe UI" panose="020B0502040204020203" pitchFamily="34" charset="0"/>
                <a:cs typeface="Segoe UI" panose="020B0502040204020203" pitchFamily="34" charset="0"/>
              </a:rPr>
              <a:t>Start with a controlled pilot, ideally at a single branch or with a selected call center team, before gradually scaling the solution across the organization.</a:t>
            </a:r>
          </a:p>
          <a:p>
            <a:pPr marL="182563" indent="-182563">
              <a:buFont typeface="Arial" panose="020B0604020202020204" pitchFamily="34" charset="0"/>
              <a:buChar char="•"/>
            </a:pPr>
            <a:endParaRPr lang="en-US" sz="2000" dirty="0">
              <a:latin typeface="Segoe UI" panose="020B0502040204020203" pitchFamily="34" charset="0"/>
              <a:cs typeface="Segoe UI" panose="020B0502040204020203" pitchFamily="34" charset="0"/>
            </a:endParaRPr>
          </a:p>
          <a:p>
            <a:pPr marL="182563" indent="-182563">
              <a:buFont typeface="Arial" panose="020B0604020202020204" pitchFamily="34" charset="0"/>
              <a:buChar char="•"/>
            </a:pPr>
            <a:r>
              <a:rPr lang="en-US" sz="2000" dirty="0">
                <a:latin typeface="Segoe UI" panose="020B0502040204020203" pitchFamily="34" charset="0"/>
                <a:cs typeface="Segoe UI" panose="020B0502040204020203" pitchFamily="34" charset="0"/>
              </a:rPr>
              <a:t>Establish a continuous improvement loop, using performance metrics to fine-tune the analysis model and automation flow when needed.</a:t>
            </a:r>
          </a:p>
        </p:txBody>
      </p:sp>
    </p:spTree>
    <p:extLst>
      <p:ext uri="{BB962C8B-B14F-4D97-AF65-F5344CB8AC3E}">
        <p14:creationId xmlns:p14="http://schemas.microsoft.com/office/powerpoint/2010/main" val="122374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50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8" end="8"/>
                                            </p:txEl>
                                          </p:spTgt>
                                        </p:tgtEl>
                                        <p:attrNameLst>
                                          <p:attrName>style.visibility</p:attrName>
                                        </p:attrNameLst>
                                      </p:cBhvr>
                                      <p:to>
                                        <p:strVal val="visible"/>
                                      </p:to>
                                    </p:set>
                                    <p:animEffect transition="in" filter="fade">
                                      <p:cBhvr>
                                        <p:cTn id="32"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E35DF-47BD-3128-3843-64E9D0F8BB79}"/>
            </a:ext>
          </a:extLst>
        </p:cNvPr>
        <p:cNvGrpSpPr/>
        <p:nvPr/>
      </p:nvGrpSpPr>
      <p:grpSpPr>
        <a:xfrm>
          <a:off x="0" y="0"/>
          <a:ext cx="0" cy="0"/>
          <a:chOff x="0" y="0"/>
          <a:chExt cx="0" cy="0"/>
        </a:xfrm>
      </p:grpSpPr>
      <p:sp>
        <p:nvSpPr>
          <p:cNvPr id="7" name="CuadroTexto 17">
            <a:extLst>
              <a:ext uri="{FF2B5EF4-FFF2-40B4-BE49-F238E27FC236}">
                <a16:creationId xmlns:a16="http://schemas.microsoft.com/office/drawing/2014/main" id="{9A613526-5E67-C1D1-8C35-065629B8055C}"/>
              </a:ext>
            </a:extLst>
          </p:cNvPr>
          <p:cNvSpPr txBox="1"/>
          <p:nvPr/>
        </p:nvSpPr>
        <p:spPr>
          <a:xfrm>
            <a:off x="4055652" y="3071590"/>
            <a:ext cx="4159905" cy="707886"/>
          </a:xfrm>
          <a:prstGeom prst="rect">
            <a:avLst/>
          </a:prstGeom>
          <a:noFill/>
        </p:spPr>
        <p:txBody>
          <a:bodyPr wrap="square" rtlCol="0">
            <a:spAutoFit/>
          </a:bodyPr>
          <a:lstStyle>
            <a:defPPr>
              <a:defRPr lang="en-US"/>
            </a:defPPr>
            <a:lvl1pPr algn="ctr">
              <a:defRPr sz="4000" b="1">
                <a:latin typeface="Brandon Grotesque Bold" panose="020B0803020203060202" pitchFamily="34" charset="0"/>
                <a:cs typeface="Segoe UI Semilight" panose="020B0402040204020203" pitchFamily="34" charset="0"/>
              </a:defRPr>
            </a:lvl1pPr>
          </a:lstStyle>
          <a:p>
            <a:r>
              <a:rPr lang="es-ES_tradnl" dirty="0"/>
              <a:t>QUESTIONS</a:t>
            </a:r>
          </a:p>
        </p:txBody>
      </p:sp>
    </p:spTree>
    <p:extLst>
      <p:ext uri="{BB962C8B-B14F-4D97-AF65-F5344CB8AC3E}">
        <p14:creationId xmlns:p14="http://schemas.microsoft.com/office/powerpoint/2010/main" val="250632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Sector">
  <a:themeElements>
    <a:clrScheme name="Secto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o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ecto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xml><?xml version="1.0" encoding="utf-8"?>
<a:themeOverride xmlns:a="http://schemas.openxmlformats.org/drawingml/2006/main">
  <a:clrScheme name="Secto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docProps/app.xml><?xml version="1.0" encoding="utf-8"?>
<Properties xmlns="http://schemas.openxmlformats.org/officeDocument/2006/extended-properties" xmlns:vt="http://schemas.openxmlformats.org/officeDocument/2006/docPropsVTypes">
  <Template/>
  <TotalTime>136</TotalTime>
  <Words>1103</Words>
  <Application>Microsoft Office PowerPoint</Application>
  <PresentationFormat>Panorámica</PresentationFormat>
  <Paragraphs>144</Paragraphs>
  <Slides>12</Slides>
  <Notes>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12</vt:i4>
      </vt:variant>
    </vt:vector>
  </HeadingPairs>
  <TitlesOfParts>
    <vt:vector size="20" baseType="lpstr">
      <vt:lpstr>Arial</vt:lpstr>
      <vt:lpstr>Brandon Grotesque Bold</vt:lpstr>
      <vt:lpstr>Calibri</vt:lpstr>
      <vt:lpstr>Century Gothic</vt:lpstr>
      <vt:lpstr>Segoe UI</vt:lpstr>
      <vt:lpstr>Wingdings</vt:lpstr>
      <vt:lpstr>Wingdings 3</vt:lpstr>
      <vt:lpstr>Sector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Amilcar Rodriguez</dc:creator>
  <cp:lastModifiedBy>Amilcar Rodriguez</cp:lastModifiedBy>
  <cp:revision>13</cp:revision>
  <dcterms:created xsi:type="dcterms:W3CDTF">2025-06-23T16:05:22Z</dcterms:created>
  <dcterms:modified xsi:type="dcterms:W3CDTF">2025-11-17T14:34:45Z</dcterms:modified>
</cp:coreProperties>
</file>